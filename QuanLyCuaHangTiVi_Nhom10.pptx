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4" r:id="rId7"/>
    <p:sldId id="265" r:id="rId8"/>
    <p:sldId id="267" r:id="rId9"/>
    <p:sldId id="278" r:id="rId10"/>
    <p:sldId id="279" r:id="rId11"/>
  </p:sldIdLst>
  <p:sldSz cx="18288000" cy="10287000"/>
  <p:notesSz cx="6858000" cy="9144000"/>
  <p:embeddedFontLst>
    <p:embeddedFont>
      <p:font typeface="Abadi" panose="020F0502020204030204" pitchFamily="34" charset="0"/>
      <p:regular r:id="rId13"/>
      <p:bold r:id="rId14"/>
      <p:italic r:id="rId15"/>
      <p:boldItalic r:id="rId16"/>
    </p:embeddedFont>
    <p:embeddedFont>
      <p:font typeface="Open Sans" panose="020F0502020204030204" pitchFamily="34" charset="0"/>
      <p:regular r:id="rId17"/>
      <p:bold r:id="rId18"/>
      <p:italic r:id="rId19"/>
      <p:boldItalic r:id="rId20"/>
    </p:embeddedFont>
    <p:embeddedFont>
      <p:font typeface="Ubuntu" panose="020F0502020204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E37496-C9FA-413F-99DE-381D7B96B936}">
  <a:tblStyle styleId="{FEE37496-C9FA-413F-99DE-381D7B96B9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89" autoAdjust="0"/>
    <p:restoredTop sz="94660"/>
  </p:normalViewPr>
  <p:slideViewPr>
    <p:cSldViewPr snapToGrid="0">
      <p:cViewPr varScale="1">
        <p:scale>
          <a:sx n="31" d="100"/>
          <a:sy n="31" d="100"/>
        </p:scale>
        <p:origin x="1306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469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238A5F88-B9A3-1CAA-0C0F-3E84C56B3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>
            <a:extLst>
              <a:ext uri="{FF2B5EF4-FFF2-40B4-BE49-F238E27FC236}">
                <a16:creationId xmlns:a16="http://schemas.microsoft.com/office/drawing/2014/main" id="{0CCB6303-8607-4DCA-EDEA-28464BCBBD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:notes">
            <a:extLst>
              <a:ext uri="{FF2B5EF4-FFF2-40B4-BE49-F238E27FC236}">
                <a16:creationId xmlns:a16="http://schemas.microsoft.com/office/drawing/2014/main" id="{92AA6EEF-708A-C233-B39D-FA86CC650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6611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3"/>
          <p:cNvGrpSpPr/>
          <p:nvPr/>
        </p:nvGrpSpPr>
        <p:grpSpPr>
          <a:xfrm>
            <a:off x="7930030" y="0"/>
            <a:ext cx="10358038" cy="10397985"/>
            <a:chOff x="0" y="0"/>
            <a:chExt cx="2728025" cy="2738546"/>
          </a:xfrm>
        </p:grpSpPr>
        <p:sp>
          <p:nvSpPr>
            <p:cNvPr id="12" name="Google Shape;12;p3"/>
            <p:cNvSpPr/>
            <p:nvPr/>
          </p:nvSpPr>
          <p:spPr>
            <a:xfrm>
              <a:off x="0" y="0"/>
              <a:ext cx="2728025" cy="2738546"/>
            </a:xfrm>
            <a:custGeom>
              <a:avLst/>
              <a:gdLst/>
              <a:ahLst/>
              <a:cxnLst/>
              <a:rect l="l" t="t" r="r" b="b"/>
              <a:pathLst>
                <a:path w="2728025" h="2738546" extrusionOk="0">
                  <a:moveTo>
                    <a:pt x="0" y="0"/>
                  </a:moveTo>
                  <a:lnTo>
                    <a:pt x="2728025" y="0"/>
                  </a:lnTo>
                  <a:lnTo>
                    <a:pt x="2728025" y="2738546"/>
                  </a:lnTo>
                  <a:lnTo>
                    <a:pt x="0" y="2738546"/>
                  </a:lnTo>
                  <a:close/>
                </a:path>
              </a:pathLst>
            </a:custGeom>
            <a:solidFill>
              <a:srgbClr val="F8E175"/>
            </a:solidFill>
            <a:ln w="114300" cap="flat" cmpd="sng">
              <a:solidFill>
                <a:srgbClr val="F8E1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Google Shape;13;p3"/>
            <p:cNvSpPr txBox="1"/>
            <p:nvPr/>
          </p:nvSpPr>
          <p:spPr>
            <a:xfrm>
              <a:off x="0" y="0"/>
              <a:ext cx="812700" cy="8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14;p3"/>
          <p:cNvGrpSpPr/>
          <p:nvPr/>
        </p:nvGrpSpPr>
        <p:grpSpPr>
          <a:xfrm>
            <a:off x="8512944" y="575323"/>
            <a:ext cx="9131806" cy="8885760"/>
            <a:chOff x="0" y="0"/>
            <a:chExt cx="2405069" cy="2340267"/>
          </a:xfrm>
        </p:grpSpPr>
        <p:sp>
          <p:nvSpPr>
            <p:cNvPr id="15" name="Google Shape;15;p3"/>
            <p:cNvSpPr/>
            <p:nvPr/>
          </p:nvSpPr>
          <p:spPr>
            <a:xfrm>
              <a:off x="0" y="0"/>
              <a:ext cx="2405069" cy="2340267"/>
            </a:xfrm>
            <a:custGeom>
              <a:avLst/>
              <a:gdLst/>
              <a:ahLst/>
              <a:cxnLst/>
              <a:rect l="l" t="t" r="r" b="b"/>
              <a:pathLst>
                <a:path w="2405069" h="2340267" extrusionOk="0">
                  <a:moveTo>
                    <a:pt x="0" y="0"/>
                  </a:moveTo>
                  <a:lnTo>
                    <a:pt x="2405069" y="0"/>
                  </a:lnTo>
                  <a:lnTo>
                    <a:pt x="2405069" y="2340267"/>
                  </a:lnTo>
                  <a:lnTo>
                    <a:pt x="0" y="2340267"/>
                  </a:lnTo>
                  <a:close/>
                </a:path>
              </a:pathLst>
            </a:custGeom>
            <a:solidFill>
              <a:srgbClr val="F8E175"/>
            </a:solidFill>
            <a:ln w="1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Google Shape;16;p3"/>
            <p:cNvSpPr txBox="1"/>
            <p:nvPr/>
          </p:nvSpPr>
          <p:spPr>
            <a:xfrm>
              <a:off x="0" y="0"/>
              <a:ext cx="812700" cy="8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9364150" y="30829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10049950" y="4965700"/>
            <a:ext cx="64008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2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4"/>
          <p:cNvGrpSpPr/>
          <p:nvPr/>
        </p:nvGrpSpPr>
        <p:grpSpPr>
          <a:xfrm>
            <a:off x="779224" y="941275"/>
            <a:ext cx="16771772" cy="8510642"/>
            <a:chOff x="0" y="0"/>
            <a:chExt cx="4316614" cy="2190416"/>
          </a:xfrm>
        </p:grpSpPr>
        <p:sp>
          <p:nvSpPr>
            <p:cNvPr id="21" name="Google Shape;21;p4"/>
            <p:cNvSpPr/>
            <p:nvPr/>
          </p:nvSpPr>
          <p:spPr>
            <a:xfrm>
              <a:off x="0" y="0"/>
              <a:ext cx="4316614" cy="2190416"/>
            </a:xfrm>
            <a:custGeom>
              <a:avLst/>
              <a:gdLst/>
              <a:ahLst/>
              <a:cxnLst/>
              <a:rect l="l" t="t" r="r" b="b"/>
              <a:pathLst>
                <a:path w="4316614" h="2190416" extrusionOk="0">
                  <a:moveTo>
                    <a:pt x="0" y="0"/>
                  </a:moveTo>
                  <a:lnTo>
                    <a:pt x="4316614" y="0"/>
                  </a:lnTo>
                  <a:lnTo>
                    <a:pt x="4316614" y="2190416"/>
                  </a:lnTo>
                  <a:lnTo>
                    <a:pt x="0" y="2190416"/>
                  </a:ln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2" name="Google Shape;22;p4"/>
            <p:cNvSpPr txBox="1"/>
            <p:nvPr/>
          </p:nvSpPr>
          <p:spPr>
            <a:xfrm>
              <a:off x="0" y="0"/>
              <a:ext cx="812700" cy="8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4"/>
          <p:cNvGrpSpPr/>
          <p:nvPr/>
        </p:nvGrpSpPr>
        <p:grpSpPr>
          <a:xfrm>
            <a:off x="870295" y="1028700"/>
            <a:ext cx="16564010" cy="8316791"/>
            <a:chOff x="0" y="0"/>
            <a:chExt cx="4362509" cy="2190416"/>
          </a:xfrm>
        </p:grpSpPr>
        <p:sp>
          <p:nvSpPr>
            <p:cNvPr id="24" name="Google Shape;24;p4"/>
            <p:cNvSpPr/>
            <p:nvPr/>
          </p:nvSpPr>
          <p:spPr>
            <a:xfrm>
              <a:off x="0" y="0"/>
              <a:ext cx="4362509" cy="2190416"/>
            </a:xfrm>
            <a:custGeom>
              <a:avLst/>
              <a:gdLst/>
              <a:ahLst/>
              <a:cxnLst/>
              <a:rect l="l" t="t" r="r" b="b"/>
              <a:pathLst>
                <a:path w="4362509" h="2190416" extrusionOk="0">
                  <a:moveTo>
                    <a:pt x="0" y="0"/>
                  </a:moveTo>
                  <a:lnTo>
                    <a:pt x="4362509" y="0"/>
                  </a:lnTo>
                  <a:lnTo>
                    <a:pt x="4362509" y="2190416"/>
                  </a:lnTo>
                  <a:lnTo>
                    <a:pt x="0" y="2190416"/>
                  </a:ln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8E175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5" name="Google Shape;25;p4"/>
            <p:cNvSpPr txBox="1"/>
            <p:nvPr/>
          </p:nvSpPr>
          <p:spPr>
            <a:xfrm>
              <a:off x="0" y="0"/>
              <a:ext cx="812700" cy="8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318800" y="1804950"/>
            <a:ext cx="1501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5893363" y="37911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047312" y="1731450"/>
            <a:ext cx="154671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Calibri"/>
              <a:buNone/>
              <a:defRPr sz="7500" cap="none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5257788" y="68833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32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3200"/>
              <a:buNone/>
              <a:defRPr sz="32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3200"/>
              <a:buNone/>
              <a:defRPr sz="32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3200"/>
              <a:buNone/>
              <a:defRPr sz="32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3200"/>
              <a:buNone/>
              <a:defRPr sz="32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3200"/>
              <a:buNone/>
              <a:defRPr sz="32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3200"/>
              <a:buNone/>
              <a:defRPr sz="32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3200"/>
              <a:buNone/>
              <a:defRPr sz="32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2209800" y="1775775"/>
            <a:ext cx="13258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4737375" y="3740275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8928375" y="3740275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443325" y="1808200"/>
            <a:ext cx="14616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Calibri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5029138" y="38119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55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9216963" y="38119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55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8"/>
          <p:cNvGrpSpPr/>
          <p:nvPr/>
        </p:nvGrpSpPr>
        <p:grpSpPr>
          <a:xfrm>
            <a:off x="870295" y="1028700"/>
            <a:ext cx="16564010" cy="8316791"/>
            <a:chOff x="0" y="0"/>
            <a:chExt cx="4362509" cy="2190416"/>
          </a:xfrm>
        </p:grpSpPr>
        <p:sp>
          <p:nvSpPr>
            <p:cNvPr id="42" name="Google Shape;42;p8"/>
            <p:cNvSpPr/>
            <p:nvPr/>
          </p:nvSpPr>
          <p:spPr>
            <a:xfrm>
              <a:off x="0" y="0"/>
              <a:ext cx="4362509" cy="2190416"/>
            </a:xfrm>
            <a:custGeom>
              <a:avLst/>
              <a:gdLst/>
              <a:ahLst/>
              <a:cxnLst/>
              <a:rect l="l" t="t" r="r" b="b"/>
              <a:pathLst>
                <a:path w="4362509" h="2190416" extrusionOk="0">
                  <a:moveTo>
                    <a:pt x="0" y="0"/>
                  </a:moveTo>
                  <a:lnTo>
                    <a:pt x="4362509" y="0"/>
                  </a:lnTo>
                  <a:lnTo>
                    <a:pt x="4362509" y="2190416"/>
                  </a:lnTo>
                  <a:lnTo>
                    <a:pt x="0" y="2190416"/>
                  </a:lnTo>
                  <a:close/>
                </a:path>
              </a:pathLst>
            </a:custGeom>
            <a:solidFill>
              <a:srgbClr val="F8E175"/>
            </a:solidFill>
            <a:ln w="1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3" name="Google Shape;43;p8"/>
            <p:cNvSpPr txBox="1"/>
            <p:nvPr/>
          </p:nvSpPr>
          <p:spPr>
            <a:xfrm>
              <a:off x="0" y="0"/>
              <a:ext cx="812700" cy="81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757125" y="1766050"/>
            <a:ext cx="1608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530550" y="2491425"/>
            <a:ext cx="148302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Calibri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1"/>
          </p:nvPr>
        </p:nvSpPr>
        <p:spPr>
          <a:xfrm>
            <a:off x="5984000" y="40033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>
          <a:xfrm>
            <a:off x="2070600" y="1723900"/>
            <a:ext cx="13384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 rot="5400000">
            <a:off x="5505125" y="2131238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 rot="5400000">
            <a:off x="7970850" y="378033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 rot="5400000">
            <a:off x="3250675" y="2133576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303875" y="9943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4400"/>
              <a:buFont typeface="Ubuntu"/>
              <a:buNone/>
              <a:defRPr sz="4400" i="0" u="none" strike="noStrike" cap="none">
                <a:solidFill>
                  <a:srgbClr val="545454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648200" y="32723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545454"/>
              </a:buClr>
              <a:buSzPts val="3200"/>
              <a:buFont typeface="Open Sans"/>
              <a:buChar char="•"/>
              <a:defRPr sz="3200" i="0" u="none" strike="noStrike" cap="none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545454"/>
              </a:buClr>
              <a:buSzPts val="2800"/>
              <a:buFont typeface="Open Sans"/>
              <a:buChar char="–"/>
              <a:defRPr sz="2800" i="0" u="none" strike="noStrike" cap="none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545454"/>
              </a:buClr>
              <a:buSzPts val="2400"/>
              <a:buFont typeface="Open Sans"/>
              <a:buChar char="•"/>
              <a:defRPr sz="2400" i="0" u="none" strike="noStrike" cap="none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Open Sans"/>
              <a:buChar char="–"/>
              <a:defRPr sz="2000" i="0" u="none" strike="noStrike" cap="none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Open Sans"/>
              <a:buChar char="»"/>
              <a:defRPr sz="2000" i="0" u="none" strike="noStrike" cap="none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545454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rgbClr val="54545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3"/>
          <p:cNvGrpSpPr/>
          <p:nvPr/>
        </p:nvGrpSpPr>
        <p:grpSpPr>
          <a:xfrm>
            <a:off x="-176981" y="0"/>
            <a:ext cx="18464981" cy="10397918"/>
            <a:chOff x="0" y="0"/>
            <a:chExt cx="2728025" cy="2738546"/>
          </a:xfrm>
        </p:grpSpPr>
        <p:sp>
          <p:nvSpPr>
            <p:cNvPr id="67" name="Google Shape;67;p13"/>
            <p:cNvSpPr/>
            <p:nvPr/>
          </p:nvSpPr>
          <p:spPr>
            <a:xfrm>
              <a:off x="0" y="0"/>
              <a:ext cx="2728025" cy="2738546"/>
            </a:xfrm>
            <a:custGeom>
              <a:avLst/>
              <a:gdLst/>
              <a:ahLst/>
              <a:cxnLst/>
              <a:rect l="l" t="t" r="r" b="b"/>
              <a:pathLst>
                <a:path w="2728025" h="2738546" extrusionOk="0">
                  <a:moveTo>
                    <a:pt x="0" y="0"/>
                  </a:moveTo>
                  <a:lnTo>
                    <a:pt x="2728025" y="0"/>
                  </a:lnTo>
                  <a:lnTo>
                    <a:pt x="2728025" y="2738546"/>
                  </a:lnTo>
                  <a:lnTo>
                    <a:pt x="0" y="2738546"/>
                  </a:lnTo>
                  <a:close/>
                </a:path>
              </a:pathLst>
            </a:custGeom>
            <a:solidFill>
              <a:srgbClr val="F8E175"/>
            </a:solidFill>
            <a:ln w="114300" cap="flat" cmpd="sng">
              <a:solidFill>
                <a:srgbClr val="F8E1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 noProof="1">
                <a:latin typeface="Abadi" panose="020F0502020204030204" pitchFamily="34" charset="0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b="0" i="0" u="none" strike="noStrike" cap="none" noProof="1">
                <a:solidFill>
                  <a:schemeClr val="dk1"/>
                </a:solidFill>
                <a:latin typeface="Abadi" panose="020F0502020204030204" pitchFamily="34" charset="0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" name="Google Shape;69;p13"/>
          <p:cNvGrpSpPr/>
          <p:nvPr/>
        </p:nvGrpSpPr>
        <p:grpSpPr>
          <a:xfrm>
            <a:off x="4254948" y="725274"/>
            <a:ext cx="9131747" cy="8885702"/>
            <a:chOff x="0" y="0"/>
            <a:chExt cx="2405069" cy="2340267"/>
          </a:xfrm>
        </p:grpSpPr>
        <p:sp>
          <p:nvSpPr>
            <p:cNvPr id="70" name="Google Shape;70;p13"/>
            <p:cNvSpPr/>
            <p:nvPr/>
          </p:nvSpPr>
          <p:spPr>
            <a:xfrm>
              <a:off x="0" y="0"/>
              <a:ext cx="2405069" cy="2340267"/>
            </a:xfrm>
            <a:custGeom>
              <a:avLst/>
              <a:gdLst/>
              <a:ahLst/>
              <a:cxnLst/>
              <a:rect l="l" t="t" r="r" b="b"/>
              <a:pathLst>
                <a:path w="2405069" h="2340267" extrusionOk="0">
                  <a:moveTo>
                    <a:pt x="0" y="0"/>
                  </a:moveTo>
                  <a:lnTo>
                    <a:pt x="2405069" y="0"/>
                  </a:lnTo>
                  <a:lnTo>
                    <a:pt x="2405069" y="2340267"/>
                  </a:lnTo>
                  <a:lnTo>
                    <a:pt x="0" y="2340267"/>
                  </a:lnTo>
                  <a:close/>
                </a:path>
              </a:pathLst>
            </a:custGeom>
            <a:solidFill>
              <a:srgbClr val="F8E175"/>
            </a:solidFill>
            <a:ln w="1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 noProof="1">
                <a:latin typeface="Abadi" panose="020F0502020204030204" pitchFamily="34" charset="0"/>
              </a:endParaRPr>
            </a:p>
          </p:txBody>
        </p:sp>
        <p:sp>
          <p:nvSpPr>
            <p:cNvPr id="71" name="Google Shape;71;p13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b="0" i="0" u="none" strike="noStrike" cap="none" noProof="1">
                <a:solidFill>
                  <a:schemeClr val="dk1"/>
                </a:solidFill>
                <a:latin typeface="Abadi" panose="020F0502020204030204" pitchFamily="34" charset="0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2" name="Google Shape;72;p13"/>
          <p:cNvCxnSpPr/>
          <p:nvPr/>
        </p:nvCxnSpPr>
        <p:spPr>
          <a:xfrm>
            <a:off x="5130117" y="2794431"/>
            <a:ext cx="7182180" cy="0"/>
          </a:xfrm>
          <a:prstGeom prst="straightConnector1">
            <a:avLst/>
          </a:prstGeom>
          <a:noFill/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" name="Google Shape;73;p13"/>
          <p:cNvCxnSpPr/>
          <p:nvPr/>
        </p:nvCxnSpPr>
        <p:spPr>
          <a:xfrm>
            <a:off x="3319283" y="6640359"/>
            <a:ext cx="1440782" cy="0"/>
          </a:xfrm>
          <a:prstGeom prst="straightConnector1">
            <a:avLst/>
          </a:prstGeom>
          <a:noFill/>
          <a:ln w="57150" cap="flat" cmpd="sng">
            <a:solidFill>
              <a:srgbClr val="F8E17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" name="Google Shape;74;p13"/>
          <p:cNvCxnSpPr/>
          <p:nvPr/>
        </p:nvCxnSpPr>
        <p:spPr>
          <a:xfrm>
            <a:off x="5215045" y="5994267"/>
            <a:ext cx="7182180" cy="0"/>
          </a:xfrm>
          <a:prstGeom prst="straightConnector1">
            <a:avLst/>
          </a:prstGeom>
          <a:noFill/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13"/>
          <p:cNvSpPr txBox="1"/>
          <p:nvPr/>
        </p:nvSpPr>
        <p:spPr>
          <a:xfrm>
            <a:off x="7337970" y="6387117"/>
            <a:ext cx="2766600" cy="35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328" i="0" u="none" strike="noStrike" cap="none" noProof="1">
                <a:solidFill>
                  <a:srgbClr val="545454"/>
                </a:solidFill>
                <a:latin typeface="+mj-lt"/>
                <a:ea typeface="Open Sans"/>
                <a:cs typeface="Open Sans"/>
                <a:sym typeface="Open Sans"/>
              </a:rPr>
              <a:t>LẬP TRÌNH.NET</a:t>
            </a:r>
            <a:endParaRPr lang="vi-VN" noProof="1">
              <a:latin typeface="+mj-lt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5197524" y="3176087"/>
            <a:ext cx="7047300" cy="257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381" b="0" i="0" u="none" strike="noStrike" cap="none" noProof="1">
                <a:solidFill>
                  <a:srgbClr val="545454"/>
                </a:solidFill>
                <a:latin typeface="+mj-lt"/>
                <a:ea typeface="Ubuntu"/>
                <a:cs typeface="Aharoni" panose="020F0502020204030204" pitchFamily="2" charset="-79"/>
                <a:sym typeface="Ubuntu"/>
              </a:rPr>
              <a:t>BÁO CÁO ĐỒ ÁN</a:t>
            </a:r>
            <a:endParaRPr lang="vi-VN" noProof="1">
              <a:latin typeface="+mj-lt"/>
              <a:cs typeface="Aharoni" panose="020F0502020204030204" pitchFamily="2" charset="-79"/>
            </a:endParaRPr>
          </a:p>
        </p:txBody>
      </p:sp>
      <p:cxnSp>
        <p:nvCxnSpPr>
          <p:cNvPr id="78" name="Google Shape;78;p13"/>
          <p:cNvCxnSpPr/>
          <p:nvPr/>
        </p:nvCxnSpPr>
        <p:spPr>
          <a:xfrm>
            <a:off x="1028700" y="575323"/>
            <a:ext cx="6405247" cy="0"/>
          </a:xfrm>
          <a:prstGeom prst="straightConnector1">
            <a:avLst/>
          </a:prstGeom>
          <a:noFill/>
          <a:ln w="57150" cap="flat" cmpd="sng">
            <a:solidFill>
              <a:srgbClr val="F8E17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" name="Google Shape;79;p13"/>
          <p:cNvCxnSpPr/>
          <p:nvPr/>
        </p:nvCxnSpPr>
        <p:spPr>
          <a:xfrm>
            <a:off x="1028700" y="9653352"/>
            <a:ext cx="6405247" cy="0"/>
          </a:xfrm>
          <a:prstGeom prst="straightConnector1">
            <a:avLst/>
          </a:prstGeom>
          <a:noFill/>
          <a:ln w="57150" cap="flat" cmpd="sng">
            <a:solidFill>
              <a:srgbClr val="F8E17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629F0E37-7690-744F-A137-35369F642926}"/>
              </a:ext>
            </a:extLst>
          </p:cNvPr>
          <p:cNvSpPr txBox="1"/>
          <p:nvPr/>
        </p:nvSpPr>
        <p:spPr>
          <a:xfrm>
            <a:off x="8214852" y="7233819"/>
            <a:ext cx="9291484" cy="386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600" noProof="1">
                <a:latin typeface="Time news New Roman"/>
              </a:rPr>
              <a:t>NHÓM 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17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4"/>
          <p:cNvGrpSpPr/>
          <p:nvPr/>
        </p:nvGrpSpPr>
        <p:grpSpPr>
          <a:xfrm>
            <a:off x="779224" y="941275"/>
            <a:ext cx="16771760" cy="8510634"/>
            <a:chOff x="0" y="0"/>
            <a:chExt cx="4316614" cy="2190416"/>
          </a:xfrm>
        </p:grpSpPr>
        <p:sp>
          <p:nvSpPr>
            <p:cNvPr id="85" name="Google Shape;85;p14"/>
            <p:cNvSpPr/>
            <p:nvPr/>
          </p:nvSpPr>
          <p:spPr>
            <a:xfrm>
              <a:off x="0" y="0"/>
              <a:ext cx="4316614" cy="2190416"/>
            </a:xfrm>
            <a:custGeom>
              <a:avLst/>
              <a:gdLst/>
              <a:ahLst/>
              <a:cxnLst/>
              <a:rect l="l" t="t" r="r" b="b"/>
              <a:pathLst>
                <a:path w="4316614" h="2190416" extrusionOk="0">
                  <a:moveTo>
                    <a:pt x="0" y="0"/>
                  </a:moveTo>
                  <a:lnTo>
                    <a:pt x="4316614" y="0"/>
                  </a:lnTo>
                  <a:lnTo>
                    <a:pt x="4316614" y="2190416"/>
                  </a:lnTo>
                  <a:lnTo>
                    <a:pt x="0" y="2190416"/>
                  </a:ln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 noProof="1">
                <a:latin typeface="Time news New Roman"/>
              </a:endParaRPr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b="0" i="0" u="none" strike="noStrike" cap="none" noProof="1">
                <a:solidFill>
                  <a:schemeClr val="dk1"/>
                </a:solidFill>
                <a:latin typeface="Time news New Roman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4"/>
          <p:cNvGrpSpPr/>
          <p:nvPr/>
        </p:nvGrpSpPr>
        <p:grpSpPr>
          <a:xfrm>
            <a:off x="870295" y="1028700"/>
            <a:ext cx="16563899" cy="8316734"/>
            <a:chOff x="0" y="0"/>
            <a:chExt cx="4362509" cy="2190416"/>
          </a:xfrm>
        </p:grpSpPr>
        <p:sp>
          <p:nvSpPr>
            <p:cNvPr id="88" name="Google Shape;88;p14"/>
            <p:cNvSpPr/>
            <p:nvPr/>
          </p:nvSpPr>
          <p:spPr>
            <a:xfrm>
              <a:off x="0" y="0"/>
              <a:ext cx="4362509" cy="2190416"/>
            </a:xfrm>
            <a:custGeom>
              <a:avLst/>
              <a:gdLst/>
              <a:ahLst/>
              <a:cxnLst/>
              <a:rect l="l" t="t" r="r" b="b"/>
              <a:pathLst>
                <a:path w="4362509" h="2190416" extrusionOk="0">
                  <a:moveTo>
                    <a:pt x="0" y="0"/>
                  </a:moveTo>
                  <a:lnTo>
                    <a:pt x="4362509" y="0"/>
                  </a:lnTo>
                  <a:lnTo>
                    <a:pt x="4362509" y="2190416"/>
                  </a:lnTo>
                  <a:lnTo>
                    <a:pt x="0" y="2190416"/>
                  </a:ln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8E1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 noProof="1">
                <a:latin typeface="Time news New Roman"/>
              </a:endParaRPr>
            </a:p>
          </p:txBody>
        </p:sp>
        <p:sp>
          <p:nvSpPr>
            <p:cNvPr id="89" name="Google Shape;89;p14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b="0" i="0" u="none" strike="noStrike" cap="none" noProof="1">
                <a:solidFill>
                  <a:schemeClr val="dk1"/>
                </a:solidFill>
                <a:latin typeface="Time news New Roman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4"/>
          <p:cNvSpPr txBox="1"/>
          <p:nvPr/>
        </p:nvSpPr>
        <p:spPr>
          <a:xfrm>
            <a:off x="2070678" y="1564618"/>
            <a:ext cx="14226952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7500" b="0" i="0" u="none" strike="noStrike" cap="none" noProof="1">
                <a:solidFill>
                  <a:srgbClr val="545454"/>
                </a:solidFill>
                <a:latin typeface="Time news New Roman"/>
                <a:ea typeface="Ubuntu"/>
                <a:cs typeface="Ubuntu"/>
                <a:sym typeface="Ubuntu"/>
              </a:rPr>
              <a:t>QUẢN LÝ CỬA HÀNG TIVI</a:t>
            </a:r>
            <a:endParaRPr lang="vi-VN" noProof="1">
              <a:latin typeface="Time news New Roman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3237527" y="4243237"/>
            <a:ext cx="2995634" cy="70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500" b="0" i="0" u="none" strike="noStrike" cap="none" noProof="1">
                <a:solidFill>
                  <a:srgbClr val="545454"/>
                </a:solidFill>
                <a:latin typeface="Time news New Roman"/>
                <a:ea typeface="Ubuntu"/>
                <a:cs typeface="Ubuntu"/>
                <a:sym typeface="Ubuntu"/>
              </a:rPr>
              <a:t>THÀNH VIÊN</a:t>
            </a:r>
            <a:endParaRPr lang="vi-VN" noProof="1">
              <a:latin typeface="Time news New Roman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943241" y="5478119"/>
            <a:ext cx="88570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vi-VN" sz="2400" noProof="1">
                <a:latin typeface="Time news New Roman"/>
              </a:rPr>
              <a:t>DTH235719 – Lê Thị Huỳnh Như - DH24TH2 - Nhóm 2 - Tổ 2</a:t>
            </a:r>
          </a:p>
        </p:txBody>
      </p:sp>
      <p:cxnSp>
        <p:nvCxnSpPr>
          <p:cNvPr id="97" name="Google Shape;97;p14"/>
          <p:cNvCxnSpPr/>
          <p:nvPr/>
        </p:nvCxnSpPr>
        <p:spPr>
          <a:xfrm>
            <a:off x="4943241" y="3439040"/>
            <a:ext cx="8107067" cy="0"/>
          </a:xfrm>
          <a:prstGeom prst="straightConnector1">
            <a:avLst/>
          </a:prstGeom>
          <a:noFill/>
          <a:ln w="57150" cap="flat" cmpd="sng">
            <a:solidFill>
              <a:srgbClr val="F8E17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14"/>
          <p:cNvSpPr/>
          <p:nvPr/>
        </p:nvSpPr>
        <p:spPr>
          <a:xfrm>
            <a:off x="2526146" y="4355657"/>
            <a:ext cx="470687" cy="470687"/>
          </a:xfrm>
          <a:custGeom>
            <a:avLst/>
            <a:gdLst/>
            <a:ahLst/>
            <a:cxnLst/>
            <a:rect l="l" t="t" r="r" b="b"/>
            <a:pathLst>
              <a:path w="6540754" h="6540754" extrusionOk="0">
                <a:moveTo>
                  <a:pt x="6540754" y="0"/>
                </a:moveTo>
                <a:lnTo>
                  <a:pt x="0" y="6540754"/>
                </a:lnTo>
                <a:lnTo>
                  <a:pt x="6540754" y="6540754"/>
                </a:lnTo>
                <a:close/>
              </a:path>
            </a:pathLst>
          </a:custGeom>
          <a:solidFill>
            <a:srgbClr val="F8E175"/>
          </a:solidFill>
          <a:ln>
            <a:noFill/>
          </a:ln>
        </p:spPr>
        <p:txBody>
          <a:bodyPr/>
          <a:lstStyle/>
          <a:p>
            <a:endParaRPr lang="vi-VN" noProof="1">
              <a:latin typeface="Time news New Roman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885421" y="5498956"/>
            <a:ext cx="351494" cy="348495"/>
          </a:xfrm>
          <a:custGeom>
            <a:avLst/>
            <a:gdLst/>
            <a:ahLst/>
            <a:cxnLst/>
            <a:rect l="l" t="t" r="r" b="b"/>
            <a:pathLst>
              <a:path w="6540754" h="6540754" extrusionOk="0">
                <a:moveTo>
                  <a:pt x="6540754" y="0"/>
                </a:moveTo>
                <a:lnTo>
                  <a:pt x="0" y="6540754"/>
                </a:lnTo>
                <a:lnTo>
                  <a:pt x="6540754" y="6540754"/>
                </a:lnTo>
                <a:close/>
              </a:path>
            </a:pathLst>
          </a:custGeom>
          <a:solidFill>
            <a:srgbClr val="F8E175"/>
          </a:solidFill>
          <a:ln>
            <a:noFill/>
          </a:ln>
        </p:spPr>
        <p:txBody>
          <a:bodyPr/>
          <a:lstStyle/>
          <a:p>
            <a:endParaRPr lang="vi-VN" noProof="1">
              <a:latin typeface="Time news New Roman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885421" y="6665931"/>
            <a:ext cx="351494" cy="348495"/>
          </a:xfrm>
          <a:custGeom>
            <a:avLst/>
            <a:gdLst/>
            <a:ahLst/>
            <a:cxnLst/>
            <a:rect l="l" t="t" r="r" b="b"/>
            <a:pathLst>
              <a:path w="6540754" h="6540754" extrusionOk="0">
                <a:moveTo>
                  <a:pt x="6540754" y="0"/>
                </a:moveTo>
                <a:lnTo>
                  <a:pt x="0" y="6540754"/>
                </a:lnTo>
                <a:lnTo>
                  <a:pt x="6540754" y="6540754"/>
                </a:lnTo>
                <a:close/>
              </a:path>
            </a:pathLst>
          </a:custGeom>
          <a:solidFill>
            <a:srgbClr val="F8E175"/>
          </a:solidFill>
          <a:ln>
            <a:noFill/>
          </a:ln>
        </p:spPr>
        <p:txBody>
          <a:bodyPr/>
          <a:lstStyle/>
          <a:p>
            <a:endParaRPr lang="vi-VN" noProof="1">
              <a:latin typeface="Time news New Roman"/>
            </a:endParaRP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0F84A4BD-02C0-3E70-86E7-221FBF8E3564}"/>
              </a:ext>
            </a:extLst>
          </p:cNvPr>
          <p:cNvSpPr txBox="1"/>
          <p:nvPr/>
        </p:nvSpPr>
        <p:spPr>
          <a:xfrm>
            <a:off x="4943241" y="6665931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400" noProof="1">
                <a:latin typeface="Time news New Roman"/>
              </a:rPr>
              <a:t>DTH235724 – Phạm Thị Trúc Như - DH24TH2 - Nhóm 2 - Tổ 2</a:t>
            </a: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A7436742-1D54-B827-832A-73F78C20CFF3}"/>
              </a:ext>
            </a:extLst>
          </p:cNvPr>
          <p:cNvSpPr txBox="1"/>
          <p:nvPr/>
        </p:nvSpPr>
        <p:spPr>
          <a:xfrm>
            <a:off x="1777339" y="1449476"/>
            <a:ext cx="9144000" cy="60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noProof="1">
                <a:solidFill>
                  <a:srgbClr val="545454"/>
                </a:solidFill>
                <a:latin typeface="Time news New Roman"/>
                <a:sym typeface="Ubuntu"/>
              </a:rPr>
              <a:t>Chủ đề</a:t>
            </a:r>
            <a:endParaRPr lang="vi-VN" sz="2800" noProof="1">
              <a:latin typeface="Time new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6"/>
          <p:cNvGrpSpPr/>
          <p:nvPr/>
        </p:nvGrpSpPr>
        <p:grpSpPr>
          <a:xfrm>
            <a:off x="870295" y="575187"/>
            <a:ext cx="16563899" cy="8770247"/>
            <a:chOff x="0" y="0"/>
            <a:chExt cx="4362509" cy="2190416"/>
          </a:xfrm>
        </p:grpSpPr>
        <p:sp>
          <p:nvSpPr>
            <p:cNvPr id="131" name="Google Shape;131;p16"/>
            <p:cNvSpPr/>
            <p:nvPr/>
          </p:nvSpPr>
          <p:spPr>
            <a:xfrm>
              <a:off x="0" y="0"/>
              <a:ext cx="4362509" cy="2190416"/>
            </a:xfrm>
            <a:custGeom>
              <a:avLst/>
              <a:gdLst/>
              <a:ahLst/>
              <a:cxnLst/>
              <a:rect l="l" t="t" r="r" b="b"/>
              <a:pathLst>
                <a:path w="4362509" h="2190416" extrusionOk="0">
                  <a:moveTo>
                    <a:pt x="0" y="0"/>
                  </a:moveTo>
                  <a:lnTo>
                    <a:pt x="4362509" y="0"/>
                  </a:lnTo>
                  <a:lnTo>
                    <a:pt x="4362509" y="2190416"/>
                  </a:lnTo>
                  <a:lnTo>
                    <a:pt x="0" y="2190416"/>
                  </a:ln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8E1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 noProof="1">
                <a:latin typeface="Abadi" panose="020B0604020104020204" pitchFamily="34" charset="0"/>
              </a:endParaRPr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Abadi" panose="020B0604020104020204" pitchFamily="34" charset="0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16"/>
          <p:cNvSpPr txBox="1"/>
          <p:nvPr/>
        </p:nvSpPr>
        <p:spPr>
          <a:xfrm>
            <a:off x="3884157" y="1284024"/>
            <a:ext cx="1024211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6000" noProof="1">
                <a:latin typeface="Time news New Roman"/>
              </a:rPr>
              <a:t>NỘI DUNG TRÌNH BÀY</a:t>
            </a:r>
            <a:endParaRPr lang="vi-VN" sz="6000" noProof="1">
              <a:latin typeface="Abadi" panose="020B0604020104020204" pitchFamily="34" charset="0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884157" y="4289561"/>
            <a:ext cx="470687" cy="470687"/>
          </a:xfrm>
          <a:custGeom>
            <a:avLst/>
            <a:gdLst/>
            <a:ahLst/>
            <a:cxnLst/>
            <a:rect l="l" t="t" r="r" b="b"/>
            <a:pathLst>
              <a:path w="6540754" h="6540754" extrusionOk="0">
                <a:moveTo>
                  <a:pt x="6540754" y="0"/>
                </a:moveTo>
                <a:lnTo>
                  <a:pt x="0" y="6540754"/>
                </a:lnTo>
                <a:lnTo>
                  <a:pt x="6540754" y="6540754"/>
                </a:lnTo>
                <a:close/>
              </a:path>
            </a:pathLst>
          </a:custGeom>
          <a:solidFill>
            <a:srgbClr val="F8E175"/>
          </a:solidFill>
          <a:ln>
            <a:noFill/>
          </a:ln>
        </p:spPr>
        <p:txBody>
          <a:bodyPr/>
          <a:lstStyle/>
          <a:p>
            <a:endParaRPr lang="vi-VN" noProof="1">
              <a:latin typeface="Abadi" panose="020B0604020104020204" pitchFamily="34" charset="0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326100" y="4233100"/>
            <a:ext cx="370710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noProof="1">
                <a:solidFill>
                  <a:srgbClr val="545454"/>
                </a:solidFill>
                <a:latin typeface="Time news New Roman"/>
                <a:ea typeface="Open Sans"/>
                <a:cs typeface="Open Sans"/>
                <a:sym typeface="Open Sans"/>
              </a:rPr>
              <a:t>CƠ SỞ DỮ LIỆU</a:t>
            </a:r>
            <a:endParaRPr lang="vi-VN" sz="4000" noProof="1">
              <a:latin typeface="Abadi" panose="020B0604020104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4809836" y="4208853"/>
            <a:ext cx="645969" cy="8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999" noProof="1">
                <a:solidFill>
                  <a:srgbClr val="545454"/>
                </a:solidFill>
                <a:latin typeface="Abadi" panose="020B0604020104020204" pitchFamily="34" charset="0"/>
                <a:sym typeface="Arial"/>
              </a:rPr>
              <a:t>01</a:t>
            </a:r>
            <a:endParaRPr lang="vi-VN" noProof="1">
              <a:latin typeface="Abadi" panose="020B0604020104020204" pitchFamily="34" charset="0"/>
            </a:endParaRPr>
          </a:p>
        </p:txBody>
      </p:sp>
      <p:cxnSp>
        <p:nvCxnSpPr>
          <p:cNvPr id="137" name="Google Shape;137;p16"/>
          <p:cNvCxnSpPr/>
          <p:nvPr/>
        </p:nvCxnSpPr>
        <p:spPr>
          <a:xfrm>
            <a:off x="4898995" y="2893349"/>
            <a:ext cx="8453812" cy="0"/>
          </a:xfrm>
          <a:prstGeom prst="straightConnector1">
            <a:avLst/>
          </a:prstGeom>
          <a:noFill/>
          <a:ln w="57150" cap="flat" cmpd="sng">
            <a:solidFill>
              <a:srgbClr val="F8E17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p16"/>
          <p:cNvSpPr/>
          <p:nvPr/>
        </p:nvSpPr>
        <p:spPr>
          <a:xfrm>
            <a:off x="3932472" y="6297405"/>
            <a:ext cx="470687" cy="470687"/>
          </a:xfrm>
          <a:custGeom>
            <a:avLst/>
            <a:gdLst/>
            <a:ahLst/>
            <a:cxnLst/>
            <a:rect l="l" t="t" r="r" b="b"/>
            <a:pathLst>
              <a:path w="6540754" h="6540754" extrusionOk="0">
                <a:moveTo>
                  <a:pt x="6540754" y="0"/>
                </a:moveTo>
                <a:lnTo>
                  <a:pt x="0" y="6540754"/>
                </a:lnTo>
                <a:lnTo>
                  <a:pt x="6540754" y="6540754"/>
                </a:lnTo>
                <a:close/>
              </a:path>
            </a:pathLst>
          </a:custGeom>
          <a:solidFill>
            <a:srgbClr val="F8E175"/>
          </a:solidFill>
          <a:ln>
            <a:noFill/>
          </a:ln>
        </p:spPr>
        <p:txBody>
          <a:bodyPr/>
          <a:lstStyle/>
          <a:p>
            <a:endParaRPr lang="vi-VN" noProof="1">
              <a:latin typeface="Abadi" panose="020B0604020104020204" pitchFamily="34" charset="0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6326100" y="6084163"/>
            <a:ext cx="6796293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noProof="1">
                <a:solidFill>
                  <a:srgbClr val="545454"/>
                </a:solidFill>
                <a:latin typeface="Time news New Roman"/>
                <a:ea typeface="Open Sans"/>
                <a:cs typeface="Open Sans"/>
                <a:sym typeface="Open Sans"/>
              </a:rPr>
              <a:t>GIAO DIỆN VÀ CHỨC NĂNG</a:t>
            </a:r>
            <a:endParaRPr lang="vi-VN" sz="4000" noProof="1">
              <a:latin typeface="Abadi" panose="020B06040201040202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4809836" y="6168223"/>
            <a:ext cx="824286" cy="80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999" noProof="1">
                <a:solidFill>
                  <a:srgbClr val="545454"/>
                </a:solidFill>
                <a:latin typeface="Abadi" panose="020B0604020104020204" pitchFamily="34" charset="0"/>
                <a:sym typeface="Arial"/>
              </a:rPr>
              <a:t>02</a:t>
            </a:r>
            <a:endParaRPr lang="vi-VN" noProof="1">
              <a:latin typeface="Abadi" panose="020B0604020104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17"/>
          <p:cNvGrpSpPr/>
          <p:nvPr/>
        </p:nvGrpSpPr>
        <p:grpSpPr>
          <a:xfrm>
            <a:off x="870295" y="1028700"/>
            <a:ext cx="16563899" cy="8316734"/>
            <a:chOff x="0" y="0"/>
            <a:chExt cx="4362509" cy="2190416"/>
          </a:xfrm>
        </p:grpSpPr>
        <p:sp>
          <p:nvSpPr>
            <p:cNvPr id="158" name="Google Shape;158;p17"/>
            <p:cNvSpPr/>
            <p:nvPr/>
          </p:nvSpPr>
          <p:spPr>
            <a:xfrm>
              <a:off x="0" y="0"/>
              <a:ext cx="4362509" cy="2190416"/>
            </a:xfrm>
            <a:custGeom>
              <a:avLst/>
              <a:gdLst/>
              <a:ahLst/>
              <a:cxnLst/>
              <a:rect l="l" t="t" r="r" b="b"/>
              <a:pathLst>
                <a:path w="4362509" h="2190416" extrusionOk="0">
                  <a:moveTo>
                    <a:pt x="0" y="0"/>
                  </a:moveTo>
                  <a:lnTo>
                    <a:pt x="4362509" y="0"/>
                  </a:lnTo>
                  <a:lnTo>
                    <a:pt x="4362509" y="2190416"/>
                  </a:lnTo>
                  <a:lnTo>
                    <a:pt x="0" y="2190416"/>
                  </a:ln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8E1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 noProof="1"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0" name="Google Shape;160;p17"/>
          <p:cNvCxnSpPr/>
          <p:nvPr/>
        </p:nvCxnSpPr>
        <p:spPr>
          <a:xfrm>
            <a:off x="1011625" y="2141182"/>
            <a:ext cx="8107067" cy="0"/>
          </a:xfrm>
          <a:prstGeom prst="straightConnector1">
            <a:avLst/>
          </a:prstGeom>
          <a:noFill/>
          <a:ln w="57150" cap="flat" cmpd="sng">
            <a:solidFill>
              <a:srgbClr val="F8E17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7" name="Google Shape;177;p17"/>
          <p:cNvSpPr txBox="1"/>
          <p:nvPr/>
        </p:nvSpPr>
        <p:spPr>
          <a:xfrm>
            <a:off x="-1707977" y="1222361"/>
            <a:ext cx="1024211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noProof="1">
                <a:latin typeface="Time news New Roman"/>
              </a:rPr>
              <a:t>1.CƠ SỞ DỮ LIỆU</a:t>
            </a:r>
            <a:endParaRPr lang="vi-VN" sz="4000" noProof="1">
              <a:latin typeface="Abadi" panose="020B0604020104020204" pitchFamily="34" charset="0"/>
            </a:endParaRPr>
          </a:p>
        </p:txBody>
      </p:sp>
      <p:pic>
        <p:nvPicPr>
          <p:cNvPr id="4" name="Picture 213">
            <a:extLst>
              <a:ext uri="{FF2B5EF4-FFF2-40B4-BE49-F238E27FC236}">
                <a16:creationId xmlns:a16="http://schemas.microsoft.com/office/drawing/2014/main" id="{425513D5-FCC4-270E-044C-802BBE106F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613" y="2484714"/>
            <a:ext cx="10987548" cy="62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175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18"/>
          <p:cNvGrpSpPr/>
          <p:nvPr/>
        </p:nvGrpSpPr>
        <p:grpSpPr>
          <a:xfrm>
            <a:off x="589935" y="442451"/>
            <a:ext cx="17181871" cy="9335729"/>
            <a:chOff x="0" y="0"/>
            <a:chExt cx="4362509" cy="2190416"/>
          </a:xfrm>
        </p:grpSpPr>
        <p:sp>
          <p:nvSpPr>
            <p:cNvPr id="220" name="Google Shape;220;p18"/>
            <p:cNvSpPr/>
            <p:nvPr/>
          </p:nvSpPr>
          <p:spPr>
            <a:xfrm>
              <a:off x="0" y="0"/>
              <a:ext cx="4362509" cy="2190416"/>
            </a:xfrm>
            <a:custGeom>
              <a:avLst/>
              <a:gdLst/>
              <a:ahLst/>
              <a:cxnLst/>
              <a:rect l="l" t="t" r="r" b="b"/>
              <a:pathLst>
                <a:path w="4362509" h="2190416" extrusionOk="0">
                  <a:moveTo>
                    <a:pt x="0" y="0"/>
                  </a:moveTo>
                  <a:lnTo>
                    <a:pt x="4362509" y="0"/>
                  </a:lnTo>
                  <a:lnTo>
                    <a:pt x="4362509" y="2190416"/>
                  </a:lnTo>
                  <a:lnTo>
                    <a:pt x="0" y="2190416"/>
                  </a:ln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8E1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 noProof="1">
                <a:latin typeface="Abadi" panose="020B0604020104020204" pitchFamily="34" charset="0"/>
              </a:endParaRPr>
            </a:p>
          </p:txBody>
        </p:sp>
        <p:sp>
          <p:nvSpPr>
            <p:cNvPr id="221" name="Google Shape;221;p18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Abadi" panose="020B0604020104020204" pitchFamily="34" charset="0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18"/>
          <p:cNvSpPr txBox="1"/>
          <p:nvPr/>
        </p:nvSpPr>
        <p:spPr>
          <a:xfrm>
            <a:off x="-251305" y="608269"/>
            <a:ext cx="911277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noProof="1">
                <a:solidFill>
                  <a:srgbClr val="545454"/>
                </a:solidFill>
                <a:latin typeface="Time news New Roman"/>
                <a:ea typeface="Ubuntu"/>
                <a:cs typeface="Ubuntu"/>
                <a:sym typeface="Ubuntu"/>
              </a:rPr>
              <a:t>2. GIAO DIỆN VÀ CHỨC NĂNG</a:t>
            </a:r>
            <a:endParaRPr lang="vi-VN" sz="4000" noProof="1">
              <a:latin typeface="Abadi" panose="020B0604020104020204" pitchFamily="34" charset="0"/>
            </a:endParaRPr>
          </a:p>
        </p:txBody>
      </p:sp>
      <p:cxnSp>
        <p:nvCxnSpPr>
          <p:cNvPr id="225" name="Google Shape;225;p18"/>
          <p:cNvCxnSpPr/>
          <p:nvPr/>
        </p:nvCxnSpPr>
        <p:spPr>
          <a:xfrm>
            <a:off x="958036" y="1536497"/>
            <a:ext cx="9355657" cy="0"/>
          </a:xfrm>
          <a:prstGeom prst="straightConnector1">
            <a:avLst/>
          </a:prstGeom>
          <a:noFill/>
          <a:ln w="57150" cap="flat" cmpd="sng">
            <a:solidFill>
              <a:srgbClr val="F8E17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CA7E2EB0-F1C8-CC70-6AE5-7A2FF5722954}"/>
              </a:ext>
            </a:extLst>
          </p:cNvPr>
          <p:cNvSpPr txBox="1"/>
          <p:nvPr/>
        </p:nvSpPr>
        <p:spPr>
          <a:xfrm>
            <a:off x="-943060" y="1669667"/>
            <a:ext cx="9144000" cy="57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noProof="1">
                <a:solidFill>
                  <a:srgbClr val="545454"/>
                </a:solidFill>
                <a:latin typeface="Time news New Roman"/>
                <a:ea typeface="Ubuntu"/>
                <a:cs typeface="Ubuntu"/>
                <a:sym typeface="Ubuntu"/>
              </a:rPr>
              <a:t>2.1.Quản lý sản phẩm</a:t>
            </a:r>
            <a:endParaRPr lang="vi-VN" sz="2800" noProof="1">
              <a:latin typeface="Time news New Roman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520E43FA-A730-6052-7C1D-94E9456F2D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853" y="2800607"/>
            <a:ext cx="9571754" cy="5816726"/>
          </a:xfrm>
          <a:prstGeom prst="rect">
            <a:avLst/>
          </a:prstGeom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E9EED117-6924-79B2-2EC0-4C3D83761B4B}"/>
              </a:ext>
            </a:extLst>
          </p:cNvPr>
          <p:cNvSpPr txBox="1"/>
          <p:nvPr/>
        </p:nvSpPr>
        <p:spPr>
          <a:xfrm>
            <a:off x="11474247" y="3246757"/>
            <a:ext cx="6076334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fontAlgn="base">
              <a:buFont typeface="Wingdings" panose="05000000000000000000" pitchFamily="2" charset="2"/>
              <a:buChar char="q"/>
            </a:pPr>
            <a:r>
              <a:rPr lang="vi-VN" sz="2000" b="1" noProof="1">
                <a:latin typeface="+mj-lt"/>
              </a:rPr>
              <a:t>Chức năng</a:t>
            </a:r>
            <a:r>
              <a:rPr lang="vi-VN" sz="2000" noProof="1">
                <a:latin typeface="+mj-lt"/>
              </a:rPr>
              <a:t>: Quan sát nhanh, chọn sản phẩm để sửa, xóa, hoặc xem chi tiết.</a:t>
            </a:r>
          </a:p>
          <a:p>
            <a:pPr lvl="0" algn="just" fontAlgn="base"/>
            <a:endParaRPr lang="vi-VN" sz="2000" noProof="1">
              <a:latin typeface="+mj-lt"/>
            </a:endParaRPr>
          </a:p>
          <a:p>
            <a:pPr marL="342900" lvl="0" indent="-342900" algn="just" fontAlgn="base">
              <a:buFont typeface="Wingdings" panose="05000000000000000000" pitchFamily="2" charset="2"/>
              <a:buChar char="q"/>
            </a:pPr>
            <a:r>
              <a:rPr lang="vi-VN" sz="2000" noProof="1">
                <a:latin typeface="+mj-lt"/>
              </a:rPr>
              <a:t>Các ô phía dưới dùng để </a:t>
            </a:r>
            <a:r>
              <a:rPr lang="vi-VN" sz="2000" b="1" noProof="1">
                <a:latin typeface="+mj-lt"/>
              </a:rPr>
              <a:t>thêm hoặc sửa thông tin sản phẩm</a:t>
            </a:r>
            <a:r>
              <a:rPr lang="vi-VN" sz="2000" noProof="1">
                <a:latin typeface="+mj-lt"/>
              </a:rPr>
              <a:t>:</a:t>
            </a:r>
          </a:p>
          <a:p>
            <a:pPr algn="just"/>
            <a:r>
              <a:rPr lang="vi-VN" sz="2000" b="1" noProof="1">
                <a:latin typeface="+mj-lt"/>
              </a:rPr>
              <a:t>	Thêm</a:t>
            </a:r>
            <a:r>
              <a:rPr lang="vi-VN" sz="2000" noProof="1">
                <a:latin typeface="+mj-lt"/>
              </a:rPr>
              <a:t>: Nhập thông tin vào các ô và thêm sản phẩm mới vào bảng.</a:t>
            </a:r>
          </a:p>
          <a:p>
            <a:pPr lvl="7" algn="just"/>
            <a:r>
              <a:rPr lang="vi-VN" sz="2000" b="1" noProof="1">
                <a:latin typeface="+mj-lt"/>
              </a:rPr>
              <a:t>	Lưu</a:t>
            </a:r>
            <a:r>
              <a:rPr lang="vi-VN" sz="2000" noProof="1">
                <a:latin typeface="+mj-lt"/>
              </a:rPr>
              <a:t>: Lưu dữ liệu vừa thêm hoặc sửa vào danh sách/kho.</a:t>
            </a:r>
          </a:p>
          <a:p>
            <a:pPr lvl="7" algn="just"/>
            <a:r>
              <a:rPr lang="vi-VN" sz="2000" b="1" noProof="1">
                <a:latin typeface="+mj-lt"/>
              </a:rPr>
              <a:t>	Sửa</a:t>
            </a:r>
            <a:r>
              <a:rPr lang="vi-VN" sz="2000" noProof="1">
                <a:latin typeface="+mj-lt"/>
              </a:rPr>
              <a:t>: Chọn một sản phẩm từ bảng, chỉnh sửa thông tin trong khung nhập liệu.</a:t>
            </a:r>
          </a:p>
          <a:p>
            <a:pPr lvl="7" algn="just"/>
            <a:r>
              <a:rPr lang="vi-VN" sz="2000" b="1" noProof="1">
                <a:latin typeface="+mj-lt"/>
              </a:rPr>
              <a:t>	Hủy</a:t>
            </a:r>
            <a:r>
              <a:rPr lang="vi-VN" sz="2000" noProof="1">
                <a:latin typeface="+mj-lt"/>
              </a:rPr>
              <a:t>: Hủy thao tác thêm hoặc sửa, khôi phục dữ liệu cũ.</a:t>
            </a:r>
          </a:p>
          <a:p>
            <a:pPr lvl="7" algn="just"/>
            <a:r>
              <a:rPr lang="vi-VN" sz="2000" b="1" noProof="1">
                <a:latin typeface="+mj-lt"/>
              </a:rPr>
              <a:t>	Xóa</a:t>
            </a:r>
            <a:r>
              <a:rPr lang="vi-VN" sz="2000" noProof="1">
                <a:latin typeface="+mj-lt"/>
              </a:rPr>
              <a:t>: Xóa sản phẩm đã chọn khỏi danh sách.</a:t>
            </a:r>
          </a:p>
          <a:p>
            <a:pPr lvl="7" algn="just"/>
            <a:r>
              <a:rPr lang="vi-VN" sz="2000" b="1" noProof="1">
                <a:latin typeface="+mj-lt"/>
              </a:rPr>
              <a:t>	Thoát</a:t>
            </a:r>
            <a:r>
              <a:rPr lang="vi-VN" sz="2000" noProof="1">
                <a:latin typeface="+mj-lt"/>
              </a:rPr>
              <a:t>: Đóng phần mềm</a:t>
            </a:r>
          </a:p>
          <a:p>
            <a:endParaRPr lang="vi-VN" noProof="1">
              <a:latin typeface="Abadi" panose="020B0604020104020204" pitchFamily="34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21"/>
          <p:cNvGrpSpPr/>
          <p:nvPr/>
        </p:nvGrpSpPr>
        <p:grpSpPr>
          <a:xfrm>
            <a:off x="870295" y="442452"/>
            <a:ext cx="16563899" cy="8902982"/>
            <a:chOff x="0" y="0"/>
            <a:chExt cx="4362509" cy="2190416"/>
          </a:xfrm>
        </p:grpSpPr>
        <p:sp>
          <p:nvSpPr>
            <p:cNvPr id="344" name="Google Shape;344;p21"/>
            <p:cNvSpPr/>
            <p:nvPr/>
          </p:nvSpPr>
          <p:spPr>
            <a:xfrm>
              <a:off x="0" y="0"/>
              <a:ext cx="4362509" cy="2190416"/>
            </a:xfrm>
            <a:custGeom>
              <a:avLst/>
              <a:gdLst/>
              <a:ahLst/>
              <a:cxnLst/>
              <a:rect l="l" t="t" r="r" b="b"/>
              <a:pathLst>
                <a:path w="4362509" h="2190416" extrusionOk="0">
                  <a:moveTo>
                    <a:pt x="0" y="0"/>
                  </a:moveTo>
                  <a:lnTo>
                    <a:pt x="4362509" y="0"/>
                  </a:lnTo>
                  <a:lnTo>
                    <a:pt x="4362509" y="2190416"/>
                  </a:lnTo>
                  <a:lnTo>
                    <a:pt x="0" y="21904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flat" cmpd="sng">
              <a:solidFill>
                <a:srgbClr val="F8E1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 noProof="1"/>
            </a:p>
          </p:txBody>
        </p:sp>
        <p:sp>
          <p:nvSpPr>
            <p:cNvPr id="345" name="Google Shape;345;p21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47" name="Google Shape;347;p21"/>
          <p:cNvCxnSpPr/>
          <p:nvPr/>
        </p:nvCxnSpPr>
        <p:spPr>
          <a:xfrm>
            <a:off x="4341222" y="1551245"/>
            <a:ext cx="9343057" cy="0"/>
          </a:xfrm>
          <a:prstGeom prst="straightConnector1">
            <a:avLst/>
          </a:prstGeom>
          <a:noFill/>
          <a:ln w="57150" cap="flat" cmpd="sng">
            <a:solidFill>
              <a:srgbClr val="F8E17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1A5B199C-9D78-168C-43C1-1FDE210AB56B}"/>
              </a:ext>
            </a:extLst>
          </p:cNvPr>
          <p:cNvSpPr txBox="1"/>
          <p:nvPr/>
        </p:nvSpPr>
        <p:spPr>
          <a:xfrm>
            <a:off x="3910608" y="709398"/>
            <a:ext cx="9144000" cy="57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noProof="1">
                <a:solidFill>
                  <a:srgbClr val="545454"/>
                </a:solidFill>
                <a:latin typeface="Time news New Roman"/>
                <a:ea typeface="Ubuntu"/>
                <a:cs typeface="Ubuntu"/>
                <a:sym typeface="Ubuntu"/>
              </a:rPr>
              <a:t>2.2.Quản lý kho hàng</a:t>
            </a:r>
            <a:endParaRPr lang="vi-VN" sz="2800" noProof="1">
              <a:latin typeface="Time news New Roman"/>
            </a:endParaRPr>
          </a:p>
        </p:txBody>
      </p:sp>
      <p:pic>
        <p:nvPicPr>
          <p:cNvPr id="5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9A35C1-923F-643C-BCFA-A1307A366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466" y="2195234"/>
            <a:ext cx="9800189" cy="5562416"/>
          </a:xfrm>
          <a:prstGeom prst="rect">
            <a:avLst/>
          </a:prstGeom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91DF1F95-3E85-A4EF-4250-3969C8E709AA}"/>
              </a:ext>
            </a:extLst>
          </p:cNvPr>
          <p:cNvSpPr txBox="1"/>
          <p:nvPr/>
        </p:nvSpPr>
        <p:spPr>
          <a:xfrm>
            <a:off x="11527308" y="3237504"/>
            <a:ext cx="628874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 typeface="Wingdings" panose="05000000000000000000" pitchFamily="2" charset="2"/>
              <a:buChar char="q"/>
            </a:pPr>
            <a:r>
              <a:rPr lang="vi-VN" sz="2000" noProof="1">
                <a:latin typeface="+mj-lt"/>
              </a:rPr>
              <a:t>Chức năng</a:t>
            </a:r>
          </a:p>
          <a:p>
            <a:pPr lvl="3"/>
            <a:r>
              <a:rPr lang="vi-VN" sz="2000" noProof="1">
                <a:latin typeface="+mj-lt"/>
              </a:rPr>
              <a:t>	Quan sát nhanh danh sách phiếu nhập kho.</a:t>
            </a:r>
          </a:p>
          <a:p>
            <a:pPr lvl="3"/>
            <a:r>
              <a:rPr lang="vi-VN" sz="2000" noProof="1">
                <a:latin typeface="+mj-lt"/>
              </a:rPr>
              <a:t>	Chọn phiếu để xem chi tiết, sửa hoặc xóa.</a:t>
            </a:r>
          </a:p>
          <a:p>
            <a:pPr lvl="3"/>
            <a:r>
              <a:rPr lang="vi-VN" sz="2000" noProof="1">
                <a:latin typeface="+mj-lt"/>
              </a:rPr>
              <a:t>	Theo dõi lịch sử nhập, xuất hàng.</a:t>
            </a:r>
          </a:p>
          <a:p>
            <a:pPr marL="285750" lvl="0" indent="-285750" fontAlgn="base">
              <a:buFont typeface="Wingdings" panose="05000000000000000000" pitchFamily="2" charset="2"/>
              <a:buChar char="q"/>
            </a:pPr>
            <a:r>
              <a:rPr lang="vi-VN" sz="2000" noProof="1">
                <a:latin typeface="+mj-lt"/>
              </a:rPr>
              <a:t>Các thao tác bên dưới dùng để quản lý kho</a:t>
            </a:r>
          </a:p>
          <a:p>
            <a:pPr lvl="1"/>
            <a:r>
              <a:rPr lang="vi-VN" sz="2000" b="1" noProof="1">
                <a:latin typeface="+mj-lt"/>
              </a:rPr>
              <a:t>	Thêm: </a:t>
            </a:r>
            <a:r>
              <a:rPr lang="vi-VN" sz="2000" noProof="1">
                <a:latin typeface="+mj-lt"/>
              </a:rPr>
              <a:t>Nhập</a:t>
            </a:r>
            <a:r>
              <a:rPr lang="vi-VN" sz="2000" b="1" noProof="1">
                <a:latin typeface="+mj-lt"/>
              </a:rPr>
              <a:t> </a:t>
            </a:r>
            <a:r>
              <a:rPr lang="vi-VN" sz="2000" noProof="1">
                <a:latin typeface="+mj-lt"/>
              </a:rPr>
              <a:t>thêm phiếu mới vào bảng.</a:t>
            </a:r>
          </a:p>
          <a:p>
            <a:pPr lvl="1"/>
            <a:r>
              <a:rPr lang="vi-VN" sz="2000" b="1" noProof="1">
                <a:latin typeface="+mj-lt"/>
              </a:rPr>
              <a:t>	Lưu</a:t>
            </a:r>
            <a:r>
              <a:rPr lang="vi-VN" sz="2000" noProof="1">
                <a:latin typeface="+mj-lt"/>
              </a:rPr>
              <a:t>: Lưu thông tin vừa thêm hoặc sửa.</a:t>
            </a:r>
          </a:p>
          <a:p>
            <a:pPr lvl="1"/>
            <a:r>
              <a:rPr lang="vi-VN" sz="2000" b="1" noProof="1">
                <a:latin typeface="+mj-lt"/>
              </a:rPr>
              <a:t>	Sửa</a:t>
            </a:r>
            <a:r>
              <a:rPr lang="vi-VN" sz="2000" noProof="1">
                <a:latin typeface="+mj-lt"/>
              </a:rPr>
              <a:t>: Chọn phiếu để chỉnh sửa nội dung.</a:t>
            </a:r>
          </a:p>
          <a:p>
            <a:pPr lvl="1"/>
            <a:r>
              <a:rPr lang="vi-VN" sz="2000" b="1" noProof="1">
                <a:latin typeface="+mj-lt"/>
              </a:rPr>
              <a:t>	Xóa</a:t>
            </a:r>
            <a:r>
              <a:rPr lang="vi-VN" sz="2000" noProof="1">
                <a:latin typeface="+mj-lt"/>
              </a:rPr>
              <a:t>: Xóa phiếu đang chọn khỏi danh sách.</a:t>
            </a:r>
          </a:p>
          <a:p>
            <a:pPr lvl="1"/>
            <a:r>
              <a:rPr lang="vi-VN" sz="2000" b="1" noProof="1">
                <a:latin typeface="+mj-lt"/>
              </a:rPr>
              <a:t>	Tải lại</a:t>
            </a:r>
            <a:r>
              <a:rPr lang="vi-VN" sz="2000" noProof="1">
                <a:latin typeface="+mj-lt"/>
              </a:rPr>
              <a:t>: Làm mới bảng dữ liệu.</a:t>
            </a:r>
          </a:p>
          <a:p>
            <a:pPr lvl="1"/>
            <a:r>
              <a:rPr lang="vi-VN" sz="2000" b="1" noProof="1">
                <a:latin typeface="+mj-lt"/>
              </a:rPr>
              <a:t>	Đóng</a:t>
            </a:r>
            <a:r>
              <a:rPr lang="vi-VN" sz="2000" noProof="1">
                <a:latin typeface="+mj-lt"/>
              </a:rPr>
              <a:t>: Thoát giao diện quản lý kho.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22"/>
          <p:cNvGrpSpPr/>
          <p:nvPr/>
        </p:nvGrpSpPr>
        <p:grpSpPr>
          <a:xfrm>
            <a:off x="0" y="0"/>
            <a:ext cx="18287999" cy="10287000"/>
            <a:chOff x="0" y="0"/>
            <a:chExt cx="4362509" cy="2190416"/>
          </a:xfrm>
        </p:grpSpPr>
        <p:sp>
          <p:nvSpPr>
            <p:cNvPr id="373" name="Google Shape;373;p22"/>
            <p:cNvSpPr/>
            <p:nvPr/>
          </p:nvSpPr>
          <p:spPr>
            <a:xfrm>
              <a:off x="0" y="0"/>
              <a:ext cx="4362509" cy="2190416"/>
            </a:xfrm>
            <a:custGeom>
              <a:avLst/>
              <a:gdLst/>
              <a:ahLst/>
              <a:cxnLst/>
              <a:rect l="l" t="t" r="r" b="b"/>
              <a:pathLst>
                <a:path w="4362509" h="2190416" extrusionOk="0">
                  <a:moveTo>
                    <a:pt x="0" y="0"/>
                  </a:moveTo>
                  <a:lnTo>
                    <a:pt x="4362509" y="0"/>
                  </a:lnTo>
                  <a:lnTo>
                    <a:pt x="4362509" y="2190416"/>
                  </a:lnTo>
                  <a:lnTo>
                    <a:pt x="0" y="2190416"/>
                  </a:lnTo>
                  <a:close/>
                </a:path>
              </a:pathLst>
            </a:custGeom>
            <a:solidFill>
              <a:srgbClr val="F8E175"/>
            </a:solidFill>
            <a:ln w="1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 noProof="1">
                <a:latin typeface="Abadi" panose="020B0604020104020204" pitchFamily="34" charset="0"/>
              </a:endParaRPr>
            </a:p>
          </p:txBody>
        </p:sp>
        <p:sp>
          <p:nvSpPr>
            <p:cNvPr id="374" name="Google Shape;374;p22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Abadi" panose="020B0604020104020204" pitchFamily="34" charset="0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82" name="Google Shape;382;p22"/>
          <p:cNvCxnSpPr/>
          <p:nvPr/>
        </p:nvCxnSpPr>
        <p:spPr>
          <a:xfrm>
            <a:off x="4957732" y="1422647"/>
            <a:ext cx="8107067" cy="0"/>
          </a:xfrm>
          <a:prstGeom prst="straightConnector1">
            <a:avLst/>
          </a:prstGeom>
          <a:noFill/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821D0D10-F5E7-34BE-B4A5-027F682D9BA8}"/>
              </a:ext>
            </a:extLst>
          </p:cNvPr>
          <p:cNvSpPr txBox="1"/>
          <p:nvPr/>
        </p:nvSpPr>
        <p:spPr>
          <a:xfrm>
            <a:off x="3937819" y="423873"/>
            <a:ext cx="9379974" cy="57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noProof="1">
                <a:solidFill>
                  <a:srgbClr val="545454"/>
                </a:solidFill>
                <a:latin typeface="Time news New Roman"/>
                <a:ea typeface="Ubuntu"/>
                <a:cs typeface="Ubuntu"/>
                <a:sym typeface="Ubuntu"/>
              </a:rPr>
              <a:t>2.3.Quản lý hóa đơn</a:t>
            </a:r>
            <a:endParaRPr lang="vi-VN" sz="2800" noProof="1">
              <a:latin typeface="Time news New Roman"/>
            </a:endParaRPr>
          </a:p>
        </p:txBody>
      </p:sp>
      <p:pic>
        <p:nvPicPr>
          <p:cNvPr id="2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30E3A2-E009-48DE-C644-0E22840556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779" y="2524787"/>
            <a:ext cx="9475304" cy="5616317"/>
          </a:xfrm>
          <a:prstGeom prst="rect">
            <a:avLst/>
          </a:prstGeom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BC598DC6-3CC2-FF5F-FA42-A44B722882F8}"/>
              </a:ext>
            </a:extLst>
          </p:cNvPr>
          <p:cNvSpPr txBox="1"/>
          <p:nvPr/>
        </p:nvSpPr>
        <p:spPr>
          <a:xfrm>
            <a:off x="10602862" y="3357552"/>
            <a:ext cx="736067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base">
              <a:buFont typeface="Wingdings" panose="05000000000000000000" pitchFamily="2" charset="2"/>
              <a:buChar char="q"/>
            </a:pPr>
            <a:r>
              <a:rPr lang="en-US" sz="2000" dirty="0" err="1"/>
              <a:t>Chức</a:t>
            </a:r>
            <a:r>
              <a:rPr lang="en-US" sz="2000" dirty="0"/>
              <a:t> </a:t>
            </a:r>
            <a:r>
              <a:rPr lang="en-US" sz="2000" dirty="0" err="1"/>
              <a:t>năng</a:t>
            </a:r>
            <a:r>
              <a:rPr lang="en-US" sz="2000" dirty="0"/>
              <a:t>:</a:t>
            </a:r>
          </a:p>
          <a:p>
            <a:pPr lvl="7"/>
            <a:r>
              <a:rPr lang="vi-VN" sz="2000" dirty="0"/>
              <a:t>	</a:t>
            </a:r>
            <a:r>
              <a:rPr lang="en-US" sz="2000" dirty="0"/>
              <a:t>Xem </a:t>
            </a:r>
            <a:r>
              <a:rPr lang="en-US" sz="2000" dirty="0" err="1"/>
              <a:t>danh</a:t>
            </a:r>
            <a:r>
              <a:rPr lang="en-US" sz="2000" dirty="0"/>
              <a:t> </a:t>
            </a:r>
            <a:r>
              <a:rPr lang="en-US" sz="2000" dirty="0" err="1"/>
              <a:t>sách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.</a:t>
            </a:r>
          </a:p>
          <a:p>
            <a:pPr lvl="7"/>
            <a:r>
              <a:rPr lang="vi-VN" sz="2000" dirty="0"/>
              <a:t>	</a:t>
            </a:r>
            <a:r>
              <a:rPr lang="en-US" sz="2000" dirty="0"/>
              <a:t>Xem chi </a:t>
            </a:r>
            <a:r>
              <a:rPr lang="en-US" sz="2000" dirty="0" err="1"/>
              <a:t>tiết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.</a:t>
            </a:r>
          </a:p>
          <a:p>
            <a:pPr lvl="7"/>
            <a:r>
              <a:rPr lang="vi-VN" sz="2000" dirty="0"/>
              <a:t>	</a:t>
            </a:r>
            <a:r>
              <a:rPr lang="en-US" sz="2000" dirty="0"/>
              <a:t>Sửa </a:t>
            </a:r>
            <a:r>
              <a:rPr lang="en-US" sz="2000" dirty="0" err="1"/>
              <a:t>hoặc</a:t>
            </a:r>
            <a:r>
              <a:rPr lang="en-US" sz="2000" dirty="0"/>
              <a:t> </a:t>
            </a:r>
            <a:r>
              <a:rPr lang="en-US" sz="2000" dirty="0" err="1"/>
              <a:t>xóa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.</a:t>
            </a:r>
          </a:p>
          <a:p>
            <a:pPr lvl="7"/>
            <a:r>
              <a:rPr lang="vi-VN" sz="2000" dirty="0"/>
              <a:t>	</a:t>
            </a:r>
            <a:r>
              <a:rPr lang="en-US" sz="2000" dirty="0" err="1"/>
              <a:t>Thêm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.</a:t>
            </a:r>
          </a:p>
          <a:p>
            <a:r>
              <a:rPr lang="en-US" sz="2000" dirty="0"/>
              <a:t> </a:t>
            </a:r>
          </a:p>
          <a:p>
            <a:pPr marL="342900" lvl="0" indent="-342900" fontAlgn="base">
              <a:buFont typeface="Wingdings" panose="05000000000000000000" pitchFamily="2" charset="2"/>
              <a:buChar char="q"/>
            </a:pPr>
            <a:r>
              <a:rPr lang="en-US" sz="2000" dirty="0"/>
              <a:t>Các </a:t>
            </a:r>
            <a:r>
              <a:rPr lang="en-US" sz="2000" dirty="0" err="1"/>
              <a:t>thao</a:t>
            </a:r>
            <a:r>
              <a:rPr lang="en-US" sz="2000" dirty="0"/>
              <a:t> </a:t>
            </a:r>
            <a:r>
              <a:rPr lang="en-US" sz="2000" dirty="0" err="1"/>
              <a:t>tác</a:t>
            </a:r>
            <a:r>
              <a:rPr lang="en-US" sz="2000" dirty="0"/>
              <a:t>:</a:t>
            </a:r>
          </a:p>
          <a:p>
            <a:pPr lvl="1"/>
            <a:r>
              <a:rPr lang="vi-VN" sz="2000" b="1" dirty="0"/>
              <a:t>	</a:t>
            </a:r>
            <a:r>
              <a:rPr lang="en-US" sz="2000" b="1" dirty="0" err="1"/>
              <a:t>Tạo</a:t>
            </a:r>
            <a:r>
              <a:rPr lang="en-US" sz="2000" b="1" dirty="0"/>
              <a:t> </a:t>
            </a:r>
            <a:r>
              <a:rPr lang="en-US" sz="2000" b="1" dirty="0" err="1"/>
              <a:t>hóa</a:t>
            </a:r>
            <a:r>
              <a:rPr lang="en-US" sz="2000" b="1" dirty="0"/>
              <a:t> </a:t>
            </a:r>
            <a:r>
              <a:rPr lang="en-US" sz="2000" b="1" dirty="0" err="1"/>
              <a:t>đơn</a:t>
            </a:r>
            <a:r>
              <a:rPr lang="en-US" sz="2000" b="1" dirty="0"/>
              <a:t>: </a:t>
            </a:r>
            <a:r>
              <a:rPr lang="en-US" sz="2000" dirty="0" err="1"/>
              <a:t>Lập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 </a:t>
            </a:r>
            <a:r>
              <a:rPr lang="en-US" sz="2000" dirty="0" err="1"/>
              <a:t>mới</a:t>
            </a:r>
            <a:r>
              <a:rPr lang="en-US" sz="2000" dirty="0"/>
              <a:t>.</a:t>
            </a:r>
          </a:p>
          <a:p>
            <a:pPr lvl="1"/>
            <a:r>
              <a:rPr lang="vi-VN" sz="2000" b="1" dirty="0"/>
              <a:t>	</a:t>
            </a:r>
            <a:r>
              <a:rPr lang="en-US" sz="2000" b="1" dirty="0"/>
              <a:t>Sửa </a:t>
            </a:r>
            <a:r>
              <a:rPr lang="en-US" sz="2000" b="1" dirty="0" err="1"/>
              <a:t>hóa</a:t>
            </a:r>
            <a:r>
              <a:rPr lang="en-US" sz="2000" b="1" dirty="0"/>
              <a:t> </a:t>
            </a:r>
            <a:r>
              <a:rPr lang="en-US" sz="2000" b="1" dirty="0" err="1"/>
              <a:t>đơn</a:t>
            </a:r>
            <a:r>
              <a:rPr lang="en-US" sz="2000" dirty="0"/>
              <a:t>: </a:t>
            </a:r>
            <a:r>
              <a:rPr lang="en-US" sz="2000" dirty="0" err="1"/>
              <a:t>Chỉnh</a:t>
            </a:r>
            <a:r>
              <a:rPr lang="en-US" sz="2000" dirty="0"/>
              <a:t> </a:t>
            </a:r>
            <a:r>
              <a:rPr lang="en-US" sz="2000" dirty="0" err="1"/>
              <a:t>sửa</a:t>
            </a:r>
            <a:r>
              <a:rPr lang="en-US" sz="2000" dirty="0"/>
              <a:t> </a:t>
            </a:r>
            <a:r>
              <a:rPr lang="en-US" sz="2000" dirty="0" err="1"/>
              <a:t>nội</a:t>
            </a:r>
            <a:r>
              <a:rPr lang="en-US" sz="2000" dirty="0"/>
              <a:t> dung </a:t>
            </a:r>
            <a:r>
              <a:rPr lang="en-US" sz="2000" dirty="0" err="1"/>
              <a:t>hóa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.</a:t>
            </a:r>
          </a:p>
          <a:p>
            <a:pPr lvl="1"/>
            <a:r>
              <a:rPr lang="vi-VN" sz="2000" b="1" dirty="0"/>
              <a:t>	</a:t>
            </a:r>
            <a:r>
              <a:rPr lang="en-US" sz="2000" b="1" dirty="0" err="1"/>
              <a:t>Thêm</a:t>
            </a:r>
            <a:r>
              <a:rPr lang="en-US" sz="2000" b="1" dirty="0"/>
              <a:t> chi </a:t>
            </a:r>
            <a:r>
              <a:rPr lang="en-US" sz="2000" b="1" dirty="0" err="1"/>
              <a:t>tiết</a:t>
            </a:r>
            <a:r>
              <a:rPr lang="en-US" sz="2000" dirty="0"/>
              <a:t>: </a:t>
            </a:r>
            <a:r>
              <a:rPr lang="en-US" sz="2000" dirty="0" err="1"/>
              <a:t>Thêm</a:t>
            </a:r>
            <a:r>
              <a:rPr lang="en-US" sz="2000" dirty="0"/>
              <a:t> </a:t>
            </a:r>
            <a:r>
              <a:rPr lang="en-US" sz="2000" dirty="0" err="1"/>
              <a:t>sản</a:t>
            </a:r>
            <a:r>
              <a:rPr lang="en-US" sz="2000" dirty="0"/>
              <a:t> </a:t>
            </a:r>
            <a:r>
              <a:rPr lang="en-US" sz="2000" dirty="0" err="1"/>
              <a:t>phẩm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.</a:t>
            </a:r>
          </a:p>
          <a:p>
            <a:pPr lvl="1"/>
            <a:r>
              <a:rPr lang="vi-VN" sz="2000" b="1" dirty="0"/>
              <a:t>	</a:t>
            </a:r>
            <a:r>
              <a:rPr lang="en-US" sz="2000" b="1" dirty="0" err="1"/>
              <a:t>Xóa</a:t>
            </a:r>
            <a:r>
              <a:rPr lang="en-US" sz="2000" b="1" dirty="0"/>
              <a:t> </a:t>
            </a:r>
            <a:r>
              <a:rPr lang="en-US" sz="2000" b="1" dirty="0" err="1"/>
              <a:t>hóa</a:t>
            </a:r>
            <a:r>
              <a:rPr lang="en-US" sz="2000" b="1" dirty="0"/>
              <a:t> </a:t>
            </a:r>
            <a:r>
              <a:rPr lang="en-US" sz="2000" b="1" dirty="0" err="1"/>
              <a:t>đơn</a:t>
            </a:r>
            <a:r>
              <a:rPr lang="en-US" sz="2000" dirty="0"/>
              <a:t>: </a:t>
            </a:r>
            <a:r>
              <a:rPr lang="en-US" sz="2000" dirty="0" err="1"/>
              <a:t>Xóa</a:t>
            </a:r>
            <a:r>
              <a:rPr lang="en-US" sz="2000" dirty="0"/>
              <a:t> </a:t>
            </a:r>
            <a:r>
              <a:rPr lang="en-US" sz="2000" dirty="0" err="1"/>
              <a:t>hóa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 </a:t>
            </a:r>
            <a:r>
              <a:rPr lang="en-US" sz="2000" dirty="0" err="1"/>
              <a:t>đang</a:t>
            </a:r>
            <a:r>
              <a:rPr lang="en-US" sz="2000" dirty="0"/>
              <a:t> </a:t>
            </a:r>
            <a:r>
              <a:rPr lang="en-US" sz="2000" dirty="0" err="1"/>
              <a:t>chọn</a:t>
            </a:r>
            <a:r>
              <a:rPr lang="en-US" sz="2000" dirty="0"/>
              <a:t>.</a:t>
            </a:r>
          </a:p>
          <a:p>
            <a:pPr lvl="1"/>
            <a:r>
              <a:rPr lang="vi-VN" sz="2000" b="1" dirty="0"/>
              <a:t>	</a:t>
            </a:r>
            <a:r>
              <a:rPr lang="en-US" sz="2000" b="1" dirty="0"/>
              <a:t>Lưu</a:t>
            </a:r>
            <a:r>
              <a:rPr lang="en-US" sz="2000" dirty="0"/>
              <a:t>: Lưu </a:t>
            </a:r>
            <a:r>
              <a:rPr lang="en-US" sz="2000" dirty="0" err="1"/>
              <a:t>toàn</a:t>
            </a:r>
            <a:r>
              <a:rPr lang="en-US" sz="2000" dirty="0"/>
              <a:t> </a:t>
            </a:r>
            <a:r>
              <a:rPr lang="en-US" sz="2000" dirty="0" err="1"/>
              <a:t>bộ</a:t>
            </a:r>
            <a:r>
              <a:rPr lang="en-US" sz="2000" dirty="0"/>
              <a:t> </a:t>
            </a:r>
            <a:r>
              <a:rPr lang="en-US" sz="2000" dirty="0" err="1"/>
              <a:t>thay</a:t>
            </a:r>
            <a:r>
              <a:rPr lang="en-US" sz="2000" dirty="0"/>
              <a:t> </a:t>
            </a:r>
            <a:r>
              <a:rPr lang="en-US" sz="2000" dirty="0" err="1"/>
              <a:t>đổi</a:t>
            </a:r>
            <a:r>
              <a:rPr lang="en-US" sz="2000" dirty="0"/>
              <a:t>.</a:t>
            </a:r>
          </a:p>
          <a:p>
            <a:pPr lvl="1"/>
            <a:r>
              <a:rPr lang="vi-VN" sz="2000" b="1" dirty="0"/>
              <a:t>	</a:t>
            </a:r>
            <a:r>
              <a:rPr lang="en-US" sz="2000" b="1" dirty="0" err="1"/>
              <a:t>Đóng</a:t>
            </a:r>
            <a:r>
              <a:rPr lang="en-US" sz="2000" dirty="0"/>
              <a:t>: </a:t>
            </a:r>
            <a:r>
              <a:rPr lang="en-US" sz="2000" dirty="0" err="1"/>
              <a:t>Thoát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175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24"/>
          <p:cNvGrpSpPr/>
          <p:nvPr/>
        </p:nvGrpSpPr>
        <p:grpSpPr>
          <a:xfrm>
            <a:off x="412955" y="368710"/>
            <a:ext cx="17550580" cy="9571703"/>
            <a:chOff x="0" y="0"/>
            <a:chExt cx="4316614" cy="2190416"/>
          </a:xfrm>
        </p:grpSpPr>
        <p:sp>
          <p:nvSpPr>
            <p:cNvPr id="412" name="Google Shape;412;p24"/>
            <p:cNvSpPr/>
            <p:nvPr/>
          </p:nvSpPr>
          <p:spPr>
            <a:xfrm>
              <a:off x="0" y="0"/>
              <a:ext cx="4316614" cy="2190416"/>
            </a:xfrm>
            <a:custGeom>
              <a:avLst/>
              <a:gdLst/>
              <a:ahLst/>
              <a:cxnLst/>
              <a:rect l="l" t="t" r="r" b="b"/>
              <a:pathLst>
                <a:path w="4316614" h="2190416" extrusionOk="0">
                  <a:moveTo>
                    <a:pt x="0" y="0"/>
                  </a:moveTo>
                  <a:lnTo>
                    <a:pt x="4316614" y="0"/>
                  </a:lnTo>
                  <a:lnTo>
                    <a:pt x="4316614" y="2190416"/>
                  </a:lnTo>
                  <a:lnTo>
                    <a:pt x="0" y="2190416"/>
                  </a:ln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 noProof="1"/>
            </a:p>
          </p:txBody>
        </p:sp>
        <p:sp>
          <p:nvSpPr>
            <p:cNvPr id="413" name="Google Shape;413;p24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" name="Google Shape;414;p24"/>
          <p:cNvGrpSpPr/>
          <p:nvPr/>
        </p:nvGrpSpPr>
        <p:grpSpPr>
          <a:xfrm>
            <a:off x="870295" y="752168"/>
            <a:ext cx="16563899" cy="8593266"/>
            <a:chOff x="0" y="0"/>
            <a:chExt cx="4362509" cy="2190416"/>
          </a:xfrm>
        </p:grpSpPr>
        <p:sp>
          <p:nvSpPr>
            <p:cNvPr id="415" name="Google Shape;415;p24"/>
            <p:cNvSpPr/>
            <p:nvPr/>
          </p:nvSpPr>
          <p:spPr>
            <a:xfrm>
              <a:off x="0" y="0"/>
              <a:ext cx="4362509" cy="2190416"/>
            </a:xfrm>
            <a:custGeom>
              <a:avLst/>
              <a:gdLst/>
              <a:ahLst/>
              <a:cxnLst/>
              <a:rect l="l" t="t" r="r" b="b"/>
              <a:pathLst>
                <a:path w="4362509" h="2190416" extrusionOk="0">
                  <a:moveTo>
                    <a:pt x="0" y="0"/>
                  </a:moveTo>
                  <a:lnTo>
                    <a:pt x="4362509" y="0"/>
                  </a:lnTo>
                  <a:lnTo>
                    <a:pt x="4362509" y="2190416"/>
                  </a:lnTo>
                  <a:lnTo>
                    <a:pt x="0" y="2190416"/>
                  </a:ln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8E1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 noProof="1"/>
            </a:p>
          </p:txBody>
        </p:sp>
        <p:sp>
          <p:nvSpPr>
            <p:cNvPr id="416" name="Google Shape;416;p24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17" name="Google Shape;417;p24"/>
          <p:cNvCxnSpPr/>
          <p:nvPr/>
        </p:nvCxnSpPr>
        <p:spPr>
          <a:xfrm>
            <a:off x="4900624" y="1940017"/>
            <a:ext cx="8107067" cy="0"/>
          </a:xfrm>
          <a:prstGeom prst="straightConnector1">
            <a:avLst/>
          </a:prstGeom>
          <a:noFill/>
          <a:ln w="57150" cap="flat" cmpd="sng">
            <a:solidFill>
              <a:srgbClr val="F8E17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8" name="Google Shape;418;p24"/>
          <p:cNvCxnSpPr/>
          <p:nvPr/>
        </p:nvCxnSpPr>
        <p:spPr>
          <a:xfrm>
            <a:off x="4974366" y="8474100"/>
            <a:ext cx="8107200" cy="0"/>
          </a:xfrm>
          <a:prstGeom prst="straightConnector1">
            <a:avLst/>
          </a:prstGeom>
          <a:noFill/>
          <a:ln w="57150" cap="flat" cmpd="sng">
            <a:solidFill>
              <a:srgbClr val="F8E17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1D10EEC-C8BA-F97D-3F99-688D0B44C66F}"/>
              </a:ext>
            </a:extLst>
          </p:cNvPr>
          <p:cNvSpPr txBox="1"/>
          <p:nvPr/>
        </p:nvSpPr>
        <p:spPr>
          <a:xfrm>
            <a:off x="3937566" y="1034081"/>
            <a:ext cx="9144000" cy="57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noProof="1">
                <a:solidFill>
                  <a:srgbClr val="545454"/>
                </a:solidFill>
                <a:latin typeface="Time news New Roman"/>
                <a:ea typeface="Ubuntu"/>
                <a:cs typeface="Ubuntu"/>
                <a:sym typeface="Ubuntu"/>
              </a:rPr>
              <a:t>2.4.Quản lý khách hàng</a:t>
            </a:r>
            <a:endParaRPr lang="vi-VN" sz="2800" noProof="1">
              <a:latin typeface="Time news New Roman"/>
            </a:endParaRPr>
          </a:p>
        </p:txBody>
      </p:sp>
      <p:grpSp>
        <p:nvGrpSpPr>
          <p:cNvPr id="1037" name="Google Shape;1037;p35"/>
          <p:cNvGrpSpPr/>
          <p:nvPr/>
        </p:nvGrpSpPr>
        <p:grpSpPr>
          <a:xfrm rot="20173742">
            <a:off x="4137086" y="1014677"/>
            <a:ext cx="763538" cy="1339148"/>
            <a:chOff x="9776853" y="7224138"/>
            <a:chExt cx="763538" cy="1339148"/>
          </a:xfrm>
        </p:grpSpPr>
        <p:sp>
          <p:nvSpPr>
            <p:cNvPr id="1038" name="Google Shape;1038;p35"/>
            <p:cNvSpPr/>
            <p:nvPr/>
          </p:nvSpPr>
          <p:spPr>
            <a:xfrm>
              <a:off x="9791115" y="7772716"/>
              <a:ext cx="283171" cy="315619"/>
            </a:xfrm>
            <a:custGeom>
              <a:avLst/>
              <a:gdLst/>
              <a:ahLst/>
              <a:cxnLst/>
              <a:rect l="l" t="t" r="r" b="b"/>
              <a:pathLst>
                <a:path w="283171" h="315619" extrusionOk="0">
                  <a:moveTo>
                    <a:pt x="283050" y="274437"/>
                  </a:moveTo>
                  <a:cubicBezTo>
                    <a:pt x="283058" y="274646"/>
                    <a:pt x="283066" y="274853"/>
                    <a:pt x="283074" y="275061"/>
                  </a:cubicBezTo>
                  <a:cubicBezTo>
                    <a:pt x="285346" y="332310"/>
                    <a:pt x="247436" y="318916"/>
                    <a:pt x="209008" y="295719"/>
                  </a:cubicBezTo>
                  <a:cubicBezTo>
                    <a:pt x="175036" y="275211"/>
                    <a:pt x="141512" y="252842"/>
                    <a:pt x="110295" y="228323"/>
                  </a:cubicBezTo>
                  <a:cubicBezTo>
                    <a:pt x="79808" y="204376"/>
                    <a:pt x="52051" y="177596"/>
                    <a:pt x="30577" y="145143"/>
                  </a:cubicBezTo>
                  <a:cubicBezTo>
                    <a:pt x="11075" y="115660"/>
                    <a:pt x="-10670" y="73458"/>
                    <a:pt x="5846" y="38158"/>
                  </a:cubicBezTo>
                  <a:cubicBezTo>
                    <a:pt x="24348" y="-1400"/>
                    <a:pt x="73139" y="-6358"/>
                    <a:pt x="110322" y="5957"/>
                  </a:cubicBezTo>
                  <a:cubicBezTo>
                    <a:pt x="182692" y="29917"/>
                    <a:pt x="232752" y="96486"/>
                    <a:pt x="259462" y="165088"/>
                  </a:cubicBezTo>
                  <a:cubicBezTo>
                    <a:pt x="273017" y="199900"/>
                    <a:pt x="281488" y="237070"/>
                    <a:pt x="283050" y="274437"/>
                  </a:cubicBezTo>
                  <a:close/>
                </a:path>
              </a:pathLst>
            </a:custGeom>
            <a:solidFill>
              <a:srgbClr val="F8E1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35"/>
            <p:cNvSpPr/>
            <p:nvPr/>
          </p:nvSpPr>
          <p:spPr>
            <a:xfrm>
              <a:off x="10090835" y="7845826"/>
              <a:ext cx="383274" cy="336299"/>
            </a:xfrm>
            <a:custGeom>
              <a:avLst/>
              <a:gdLst/>
              <a:ahLst/>
              <a:cxnLst/>
              <a:rect l="l" t="t" r="r" b="b"/>
              <a:pathLst>
                <a:path w="383274" h="336299" extrusionOk="0">
                  <a:moveTo>
                    <a:pt x="246632" y="278562"/>
                  </a:moveTo>
                  <a:cubicBezTo>
                    <a:pt x="190990" y="307774"/>
                    <a:pt x="95536" y="351280"/>
                    <a:pt x="31865" y="331166"/>
                  </a:cubicBezTo>
                  <a:cubicBezTo>
                    <a:pt x="-68058" y="299608"/>
                    <a:pt x="95383" y="113970"/>
                    <a:pt x="134919" y="79867"/>
                  </a:cubicBezTo>
                  <a:cubicBezTo>
                    <a:pt x="190207" y="32177"/>
                    <a:pt x="291390" y="-42178"/>
                    <a:pt x="355061" y="30211"/>
                  </a:cubicBezTo>
                  <a:cubicBezTo>
                    <a:pt x="435342" y="121506"/>
                    <a:pt x="326886" y="236443"/>
                    <a:pt x="246632" y="278562"/>
                  </a:cubicBezTo>
                  <a:close/>
                </a:path>
              </a:pathLst>
            </a:custGeom>
            <a:solidFill>
              <a:srgbClr val="F8E1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35"/>
            <p:cNvSpPr/>
            <p:nvPr/>
          </p:nvSpPr>
          <p:spPr>
            <a:xfrm>
              <a:off x="10055434" y="7707799"/>
              <a:ext cx="133616" cy="855487"/>
            </a:xfrm>
            <a:custGeom>
              <a:avLst/>
              <a:gdLst/>
              <a:ahLst/>
              <a:cxnLst/>
              <a:rect l="l" t="t" r="r" b="b"/>
              <a:pathLst>
                <a:path w="133616" h="855487" extrusionOk="0">
                  <a:moveTo>
                    <a:pt x="133574" y="829151"/>
                  </a:moveTo>
                  <a:cubicBezTo>
                    <a:pt x="133188" y="838214"/>
                    <a:pt x="130280" y="846083"/>
                    <a:pt x="122881" y="850759"/>
                  </a:cubicBezTo>
                  <a:cubicBezTo>
                    <a:pt x="115936" y="855147"/>
                    <a:pt x="107247" y="856146"/>
                    <a:pt x="99076" y="855114"/>
                  </a:cubicBezTo>
                  <a:cubicBezTo>
                    <a:pt x="67741" y="851180"/>
                    <a:pt x="47069" y="825798"/>
                    <a:pt x="39155" y="796513"/>
                  </a:cubicBezTo>
                  <a:cubicBezTo>
                    <a:pt x="26137" y="748299"/>
                    <a:pt x="20388" y="696859"/>
                    <a:pt x="14122" y="647386"/>
                  </a:cubicBezTo>
                  <a:cubicBezTo>
                    <a:pt x="6" y="534638"/>
                    <a:pt x="-3806" y="420920"/>
                    <a:pt x="3947" y="307526"/>
                  </a:cubicBezTo>
                  <a:cubicBezTo>
                    <a:pt x="7920" y="249699"/>
                    <a:pt x="10795" y="184359"/>
                    <a:pt x="22878" y="123471"/>
                  </a:cubicBezTo>
                  <a:cubicBezTo>
                    <a:pt x="28562" y="94639"/>
                    <a:pt x="36315" y="66806"/>
                    <a:pt x="47200" y="41263"/>
                  </a:cubicBezTo>
                  <a:cubicBezTo>
                    <a:pt x="47686" y="40101"/>
                    <a:pt x="48493" y="38103"/>
                    <a:pt x="49526" y="35588"/>
                  </a:cubicBezTo>
                  <a:cubicBezTo>
                    <a:pt x="56018" y="19786"/>
                    <a:pt x="72170" y="-16497"/>
                    <a:pt x="82959" y="8593"/>
                  </a:cubicBezTo>
                  <a:cubicBezTo>
                    <a:pt x="85253" y="13947"/>
                    <a:pt x="84606" y="20043"/>
                    <a:pt x="83927" y="25815"/>
                  </a:cubicBezTo>
                  <a:cubicBezTo>
                    <a:pt x="83539" y="29072"/>
                    <a:pt x="83152" y="32328"/>
                    <a:pt x="82795" y="35588"/>
                  </a:cubicBezTo>
                  <a:cubicBezTo>
                    <a:pt x="77530" y="80417"/>
                    <a:pt x="72524" y="124923"/>
                    <a:pt x="68355" y="169267"/>
                  </a:cubicBezTo>
                  <a:cubicBezTo>
                    <a:pt x="56919" y="291788"/>
                    <a:pt x="52139" y="413343"/>
                    <a:pt x="67966" y="538026"/>
                  </a:cubicBezTo>
                  <a:cubicBezTo>
                    <a:pt x="75590" y="598239"/>
                    <a:pt x="86862" y="658032"/>
                    <a:pt x="101691" y="716922"/>
                  </a:cubicBezTo>
                  <a:cubicBezTo>
                    <a:pt x="106858" y="737561"/>
                    <a:pt x="115839" y="757397"/>
                    <a:pt x="122074" y="777714"/>
                  </a:cubicBezTo>
                  <a:cubicBezTo>
                    <a:pt x="125886" y="790096"/>
                    <a:pt x="134285" y="811833"/>
                    <a:pt x="133574" y="829151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35"/>
            <p:cNvSpPr/>
            <p:nvPr/>
          </p:nvSpPr>
          <p:spPr>
            <a:xfrm>
              <a:off x="10078306" y="7743384"/>
              <a:ext cx="59923" cy="133679"/>
            </a:xfrm>
            <a:custGeom>
              <a:avLst/>
              <a:gdLst/>
              <a:ahLst/>
              <a:cxnLst/>
              <a:rect l="l" t="t" r="r" b="b"/>
              <a:pathLst>
                <a:path w="59923" h="133679" extrusionOk="0">
                  <a:moveTo>
                    <a:pt x="59923" y="0"/>
                  </a:moveTo>
                  <a:cubicBezTo>
                    <a:pt x="54657" y="44829"/>
                    <a:pt x="49652" y="89335"/>
                    <a:pt x="45483" y="133679"/>
                  </a:cubicBezTo>
                  <a:cubicBezTo>
                    <a:pt x="31078" y="120328"/>
                    <a:pt x="15280" y="104202"/>
                    <a:pt x="0" y="87883"/>
                  </a:cubicBezTo>
                  <a:cubicBezTo>
                    <a:pt x="5684" y="59051"/>
                    <a:pt x="13437" y="31218"/>
                    <a:pt x="24323" y="5675"/>
                  </a:cubicBezTo>
                  <a:cubicBezTo>
                    <a:pt x="24808" y="4513"/>
                    <a:pt x="25616" y="2515"/>
                    <a:pt x="26649" y="0"/>
                  </a:cubicBezTo>
                  <a:lnTo>
                    <a:pt x="59923" y="0"/>
                  </a:ln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35"/>
            <p:cNvSpPr/>
            <p:nvPr/>
          </p:nvSpPr>
          <p:spPr>
            <a:xfrm>
              <a:off x="9776853" y="7224138"/>
              <a:ext cx="763538" cy="587824"/>
            </a:xfrm>
            <a:custGeom>
              <a:avLst/>
              <a:gdLst/>
              <a:ahLst/>
              <a:cxnLst/>
              <a:rect l="l" t="t" r="r" b="b"/>
              <a:pathLst>
                <a:path w="763538" h="587824" extrusionOk="0">
                  <a:moveTo>
                    <a:pt x="720374" y="435715"/>
                  </a:moveTo>
                  <a:cubicBezTo>
                    <a:pt x="609085" y="617178"/>
                    <a:pt x="361787" y="625494"/>
                    <a:pt x="195556" y="517569"/>
                  </a:cubicBezTo>
                  <a:cubicBezTo>
                    <a:pt x="61460" y="430509"/>
                    <a:pt x="-52412" y="239659"/>
                    <a:pt x="25323" y="81923"/>
                  </a:cubicBezTo>
                  <a:cubicBezTo>
                    <a:pt x="43318" y="45447"/>
                    <a:pt x="72971" y="7167"/>
                    <a:pt x="115836" y="942"/>
                  </a:cubicBezTo>
                  <a:cubicBezTo>
                    <a:pt x="155795" y="-4864"/>
                    <a:pt x="193555" y="16841"/>
                    <a:pt x="217524" y="47545"/>
                  </a:cubicBezTo>
                  <a:cubicBezTo>
                    <a:pt x="243754" y="81117"/>
                    <a:pt x="258160" y="124787"/>
                    <a:pt x="267431" y="165906"/>
                  </a:cubicBezTo>
                  <a:cubicBezTo>
                    <a:pt x="269499" y="160713"/>
                    <a:pt x="271629" y="155555"/>
                    <a:pt x="273890" y="150426"/>
                  </a:cubicBezTo>
                  <a:cubicBezTo>
                    <a:pt x="290914" y="112274"/>
                    <a:pt x="316141" y="69766"/>
                    <a:pt x="355421" y="51093"/>
                  </a:cubicBezTo>
                  <a:cubicBezTo>
                    <a:pt x="393731" y="32905"/>
                    <a:pt x="435952" y="45579"/>
                    <a:pt x="462762" y="77185"/>
                  </a:cubicBezTo>
                  <a:cubicBezTo>
                    <a:pt x="497002" y="117563"/>
                    <a:pt x="509570" y="171906"/>
                    <a:pt x="507630" y="225991"/>
                  </a:cubicBezTo>
                  <a:cubicBezTo>
                    <a:pt x="531403" y="188420"/>
                    <a:pt x="559348" y="155006"/>
                    <a:pt x="605021" y="137948"/>
                  </a:cubicBezTo>
                  <a:cubicBezTo>
                    <a:pt x="635643" y="126530"/>
                    <a:pt x="671079" y="126434"/>
                    <a:pt x="699796" y="143269"/>
                  </a:cubicBezTo>
                  <a:cubicBezTo>
                    <a:pt x="730096" y="161040"/>
                    <a:pt x="748023" y="194031"/>
                    <a:pt x="756358" y="227218"/>
                  </a:cubicBezTo>
                  <a:cubicBezTo>
                    <a:pt x="774028" y="297649"/>
                    <a:pt x="757976" y="374406"/>
                    <a:pt x="720374" y="435715"/>
                  </a:cubicBezTo>
                  <a:close/>
                </a:path>
              </a:pathLst>
            </a:custGeom>
            <a:solidFill>
              <a:srgbClr val="F8E1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35"/>
            <p:cNvSpPr/>
            <p:nvPr/>
          </p:nvSpPr>
          <p:spPr>
            <a:xfrm>
              <a:off x="10181418" y="7476701"/>
              <a:ext cx="102177" cy="266677"/>
            </a:xfrm>
            <a:custGeom>
              <a:avLst/>
              <a:gdLst/>
              <a:ahLst/>
              <a:cxnLst/>
              <a:rect l="l" t="t" r="r" b="b"/>
              <a:pathLst>
                <a:path w="102177" h="266677" extrusionOk="0">
                  <a:moveTo>
                    <a:pt x="95374" y="2405"/>
                  </a:moveTo>
                  <a:cubicBezTo>
                    <a:pt x="81946" y="46125"/>
                    <a:pt x="70931" y="90540"/>
                    <a:pt x="55265" y="133569"/>
                  </a:cubicBezTo>
                  <a:cubicBezTo>
                    <a:pt x="47150" y="155855"/>
                    <a:pt x="38171" y="177825"/>
                    <a:pt x="28305" y="199396"/>
                  </a:cubicBezTo>
                  <a:cubicBezTo>
                    <a:pt x="19324" y="219034"/>
                    <a:pt x="6353" y="238323"/>
                    <a:pt x="221" y="258996"/>
                  </a:cubicBezTo>
                  <a:cubicBezTo>
                    <a:pt x="-1402" y="264471"/>
                    <a:pt x="6313" y="269514"/>
                    <a:pt x="10243" y="264822"/>
                  </a:cubicBezTo>
                  <a:cubicBezTo>
                    <a:pt x="24565" y="247710"/>
                    <a:pt x="33010" y="224310"/>
                    <a:pt x="42037" y="204049"/>
                  </a:cubicBezTo>
                  <a:cubicBezTo>
                    <a:pt x="51399" y="183035"/>
                    <a:pt x="60032" y="161691"/>
                    <a:pt x="67822" y="140045"/>
                  </a:cubicBezTo>
                  <a:cubicBezTo>
                    <a:pt x="83794" y="95655"/>
                    <a:pt x="97459" y="50363"/>
                    <a:pt x="102159" y="3324"/>
                  </a:cubicBezTo>
                  <a:cubicBezTo>
                    <a:pt x="102553" y="-670"/>
                    <a:pt x="96474" y="-1173"/>
                    <a:pt x="95374" y="2405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35"/>
            <p:cNvSpPr/>
            <p:nvPr/>
          </p:nvSpPr>
          <p:spPr>
            <a:xfrm>
              <a:off x="10021329" y="7421670"/>
              <a:ext cx="36422" cy="275230"/>
            </a:xfrm>
            <a:custGeom>
              <a:avLst/>
              <a:gdLst/>
              <a:ahLst/>
              <a:cxnLst/>
              <a:rect l="l" t="t" r="r" b="b"/>
              <a:pathLst>
                <a:path w="36422" h="275230" extrusionOk="0">
                  <a:moveTo>
                    <a:pt x="36267" y="269410"/>
                  </a:moveTo>
                  <a:cubicBezTo>
                    <a:pt x="25660" y="224859"/>
                    <a:pt x="19295" y="178104"/>
                    <a:pt x="16124" y="132431"/>
                  </a:cubicBezTo>
                  <a:cubicBezTo>
                    <a:pt x="14603" y="110523"/>
                    <a:pt x="14370" y="88639"/>
                    <a:pt x="15477" y="66703"/>
                  </a:cubicBezTo>
                  <a:cubicBezTo>
                    <a:pt x="16494" y="46557"/>
                    <a:pt x="23160" y="22779"/>
                    <a:pt x="18739" y="3123"/>
                  </a:cubicBezTo>
                  <a:cubicBezTo>
                    <a:pt x="17911" y="-559"/>
                    <a:pt x="12567" y="-1087"/>
                    <a:pt x="10770" y="2084"/>
                  </a:cubicBezTo>
                  <a:cubicBezTo>
                    <a:pt x="1161" y="19030"/>
                    <a:pt x="2142" y="44704"/>
                    <a:pt x="1094" y="63720"/>
                  </a:cubicBezTo>
                  <a:cubicBezTo>
                    <a:pt x="-224" y="87562"/>
                    <a:pt x="-352" y="111562"/>
                    <a:pt x="715" y="135418"/>
                  </a:cubicBezTo>
                  <a:cubicBezTo>
                    <a:pt x="2835" y="182698"/>
                    <a:pt x="12403" y="227117"/>
                    <a:pt x="27157" y="271920"/>
                  </a:cubicBezTo>
                  <a:cubicBezTo>
                    <a:pt x="29049" y="277667"/>
                    <a:pt x="37681" y="275351"/>
                    <a:pt x="36267" y="269410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35"/>
            <p:cNvSpPr/>
            <p:nvPr/>
          </p:nvSpPr>
          <p:spPr>
            <a:xfrm>
              <a:off x="9900134" y="7499161"/>
              <a:ext cx="37361" cy="85040"/>
            </a:xfrm>
            <a:custGeom>
              <a:avLst/>
              <a:gdLst/>
              <a:ahLst/>
              <a:cxnLst/>
              <a:rect l="l" t="t" r="r" b="b"/>
              <a:pathLst>
                <a:path w="37361" h="85040" extrusionOk="0">
                  <a:moveTo>
                    <a:pt x="37102" y="78134"/>
                  </a:moveTo>
                  <a:cubicBezTo>
                    <a:pt x="32568" y="63888"/>
                    <a:pt x="25100" y="51027"/>
                    <a:pt x="21325" y="36377"/>
                  </a:cubicBezTo>
                  <a:cubicBezTo>
                    <a:pt x="18444" y="25195"/>
                    <a:pt x="18925" y="9361"/>
                    <a:pt x="10225" y="1189"/>
                  </a:cubicBezTo>
                  <a:cubicBezTo>
                    <a:pt x="8768" y="-179"/>
                    <a:pt x="5831" y="-600"/>
                    <a:pt x="4444" y="1189"/>
                  </a:cubicBezTo>
                  <a:cubicBezTo>
                    <a:pt x="-3936" y="11991"/>
                    <a:pt x="1415" y="28778"/>
                    <a:pt x="5243" y="40804"/>
                  </a:cubicBezTo>
                  <a:cubicBezTo>
                    <a:pt x="9933" y="55537"/>
                    <a:pt x="16706" y="72542"/>
                    <a:pt x="27839" y="83517"/>
                  </a:cubicBezTo>
                  <a:cubicBezTo>
                    <a:pt x="31661" y="87286"/>
                    <a:pt x="38813" y="83517"/>
                    <a:pt x="37102" y="78134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35"/>
            <p:cNvSpPr/>
            <p:nvPr/>
          </p:nvSpPr>
          <p:spPr>
            <a:xfrm>
              <a:off x="10341392" y="7600312"/>
              <a:ext cx="57000" cy="80965"/>
            </a:xfrm>
            <a:custGeom>
              <a:avLst/>
              <a:gdLst/>
              <a:ahLst/>
              <a:cxnLst/>
              <a:rect l="l" t="t" r="r" b="b"/>
              <a:pathLst>
                <a:path w="57000" h="80965" extrusionOk="0">
                  <a:moveTo>
                    <a:pt x="50525" y="1658"/>
                  </a:moveTo>
                  <a:cubicBezTo>
                    <a:pt x="43445" y="14549"/>
                    <a:pt x="36575" y="27581"/>
                    <a:pt x="28123" y="39647"/>
                  </a:cubicBezTo>
                  <a:cubicBezTo>
                    <a:pt x="19699" y="51664"/>
                    <a:pt x="8502" y="61796"/>
                    <a:pt x="640" y="74068"/>
                  </a:cubicBezTo>
                  <a:cubicBezTo>
                    <a:pt x="-1756" y="77807"/>
                    <a:pt x="3078" y="82816"/>
                    <a:pt x="6855" y="80274"/>
                  </a:cubicBezTo>
                  <a:cubicBezTo>
                    <a:pt x="30473" y="64386"/>
                    <a:pt x="48325" y="30669"/>
                    <a:pt x="56834" y="4315"/>
                  </a:cubicBezTo>
                  <a:cubicBezTo>
                    <a:pt x="58036" y="597"/>
                    <a:pt x="52403" y="-1762"/>
                    <a:pt x="50525" y="1658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FBF03F-3469-C1AE-2184-0A875DCFD0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310" y="2567340"/>
            <a:ext cx="10137445" cy="5471929"/>
          </a:xfrm>
          <a:prstGeom prst="rect">
            <a:avLst/>
          </a:prstGeom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B15B744C-EB70-95A0-702A-03CB05643D15}"/>
              </a:ext>
            </a:extLst>
          </p:cNvPr>
          <p:cNvSpPr txBox="1"/>
          <p:nvPr/>
        </p:nvSpPr>
        <p:spPr>
          <a:xfrm>
            <a:off x="11554492" y="3415623"/>
            <a:ext cx="625317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base">
              <a:buFont typeface="Wingdings" panose="05000000000000000000" pitchFamily="2" charset="2"/>
              <a:buChar char="q"/>
            </a:pPr>
            <a:r>
              <a:rPr lang="en-US" sz="2000" dirty="0" err="1"/>
              <a:t>Chức</a:t>
            </a:r>
            <a:r>
              <a:rPr lang="en-US" sz="2000" dirty="0"/>
              <a:t> </a:t>
            </a:r>
            <a:r>
              <a:rPr lang="en-US" sz="2000" dirty="0" err="1"/>
              <a:t>năng</a:t>
            </a:r>
            <a:endParaRPr lang="en-US" sz="2000" dirty="0"/>
          </a:p>
          <a:p>
            <a:pPr lvl="6"/>
            <a:r>
              <a:rPr lang="vi-VN" sz="2000" dirty="0"/>
              <a:t>	</a:t>
            </a:r>
            <a:r>
              <a:rPr lang="en-US" sz="2000" dirty="0"/>
              <a:t>Quan </a:t>
            </a:r>
            <a:r>
              <a:rPr lang="en-US" sz="2000" dirty="0" err="1"/>
              <a:t>sát</a:t>
            </a:r>
            <a:r>
              <a:rPr lang="en-US" sz="2000" dirty="0"/>
              <a:t> </a:t>
            </a:r>
            <a:r>
              <a:rPr lang="en-US" sz="2000" dirty="0" err="1"/>
              <a:t>danh</a:t>
            </a:r>
            <a:r>
              <a:rPr lang="en-US" sz="2000" dirty="0"/>
              <a:t> </a:t>
            </a:r>
            <a:r>
              <a:rPr lang="en-US" sz="2000" dirty="0" err="1"/>
              <a:t>sách</a:t>
            </a:r>
            <a:r>
              <a:rPr lang="en-US" sz="2000" dirty="0"/>
              <a:t>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.</a:t>
            </a:r>
          </a:p>
          <a:p>
            <a:pPr lvl="6"/>
            <a:r>
              <a:rPr lang="vi-VN" sz="2000" dirty="0"/>
              <a:t>	</a:t>
            </a:r>
            <a:r>
              <a:rPr lang="en-US" sz="2000" dirty="0" err="1"/>
              <a:t>Chọn</a:t>
            </a:r>
            <a:r>
              <a:rPr lang="en-US" sz="2000" dirty="0"/>
              <a:t>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xem</a:t>
            </a:r>
            <a:r>
              <a:rPr lang="en-US" sz="2000" dirty="0"/>
              <a:t> chi </a:t>
            </a:r>
            <a:r>
              <a:rPr lang="en-US" sz="2000" dirty="0" err="1"/>
              <a:t>tiết</a:t>
            </a:r>
            <a:r>
              <a:rPr lang="en-US" sz="2000" dirty="0"/>
              <a:t>, </a:t>
            </a:r>
            <a:r>
              <a:rPr lang="en-US" sz="2000" dirty="0" err="1"/>
              <a:t>sửa</a:t>
            </a:r>
            <a:r>
              <a:rPr lang="en-US" sz="2000" dirty="0"/>
              <a:t> </a:t>
            </a:r>
            <a:r>
              <a:rPr lang="en-US" sz="2000" dirty="0" err="1"/>
              <a:t>hoặc</a:t>
            </a:r>
            <a:r>
              <a:rPr lang="en-US" sz="2000" dirty="0"/>
              <a:t> </a:t>
            </a:r>
            <a:r>
              <a:rPr lang="en-US" sz="2000" dirty="0" err="1"/>
              <a:t>xóa</a:t>
            </a:r>
            <a:r>
              <a:rPr lang="en-US" sz="2000" dirty="0"/>
              <a:t>.</a:t>
            </a:r>
          </a:p>
          <a:p>
            <a:pPr lvl="6"/>
            <a:r>
              <a:rPr lang="vi-VN" sz="2000" dirty="0"/>
              <a:t>	</a:t>
            </a:r>
            <a:r>
              <a:rPr lang="en-US" sz="2000" dirty="0"/>
              <a:t>Theo </a:t>
            </a:r>
            <a:r>
              <a:rPr lang="en-US" sz="2000" dirty="0" err="1"/>
              <a:t>dõi</a:t>
            </a:r>
            <a:r>
              <a:rPr lang="en-US" sz="2000" dirty="0"/>
              <a:t> </a:t>
            </a:r>
            <a:r>
              <a:rPr lang="en-US" sz="2000" dirty="0" err="1"/>
              <a:t>lịch</a:t>
            </a:r>
            <a:r>
              <a:rPr lang="en-US" sz="2000" dirty="0"/>
              <a:t>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mua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.</a:t>
            </a:r>
          </a:p>
          <a:p>
            <a:pPr marL="342900" lvl="5" indent="-342900" fontAlgn="base">
              <a:buFont typeface="Wingdings" panose="05000000000000000000" pitchFamily="2" charset="2"/>
              <a:buChar char="q"/>
            </a:pPr>
            <a:r>
              <a:rPr lang="en-US" sz="2000" dirty="0"/>
              <a:t>Các </a:t>
            </a:r>
            <a:r>
              <a:rPr lang="en-US" sz="2000" dirty="0" err="1"/>
              <a:t>thao</a:t>
            </a:r>
            <a:r>
              <a:rPr lang="en-US" sz="2000" dirty="0"/>
              <a:t> </a:t>
            </a:r>
            <a:r>
              <a:rPr lang="en-US" sz="2000" dirty="0" err="1"/>
              <a:t>tác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quản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endParaRPr lang="en-US" sz="2000" dirty="0"/>
          </a:p>
          <a:p>
            <a:pPr lvl="1"/>
            <a:r>
              <a:rPr lang="vi-VN" sz="2000" b="1" dirty="0"/>
              <a:t>	</a:t>
            </a:r>
            <a:r>
              <a:rPr lang="en-US" sz="2000" b="1" dirty="0" err="1"/>
              <a:t>Thêm</a:t>
            </a:r>
            <a:r>
              <a:rPr lang="en-US" sz="2000" dirty="0"/>
              <a:t>: </a:t>
            </a:r>
            <a:r>
              <a:rPr lang="en-US" sz="2000" dirty="0" err="1"/>
              <a:t>Nhập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thêm</a:t>
            </a:r>
            <a:r>
              <a:rPr lang="en-US" sz="2000" dirty="0"/>
              <a:t>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.</a:t>
            </a:r>
          </a:p>
          <a:p>
            <a:pPr lvl="1"/>
            <a:r>
              <a:rPr lang="vi-VN" sz="2000" b="1" dirty="0"/>
              <a:t>	</a:t>
            </a:r>
            <a:r>
              <a:rPr lang="en-US" sz="2000" b="1" dirty="0"/>
              <a:t>Lưu</a:t>
            </a:r>
            <a:r>
              <a:rPr lang="en-US" sz="2000" dirty="0"/>
              <a:t>: Lưu </a:t>
            </a:r>
            <a:r>
              <a:rPr lang="en-US" sz="2000" dirty="0" err="1"/>
              <a:t>thông</a:t>
            </a:r>
            <a:r>
              <a:rPr lang="en-US" sz="2000" dirty="0"/>
              <a:t> tin </a:t>
            </a:r>
            <a:r>
              <a:rPr lang="en-US" sz="2000" dirty="0" err="1"/>
              <a:t>vừa</a:t>
            </a:r>
            <a:r>
              <a:rPr lang="en-US" sz="2000" dirty="0"/>
              <a:t> </a:t>
            </a:r>
            <a:r>
              <a:rPr lang="en-US" sz="2000" dirty="0" err="1"/>
              <a:t>thêm</a:t>
            </a:r>
            <a:r>
              <a:rPr lang="en-US" sz="2000" dirty="0"/>
              <a:t> </a:t>
            </a:r>
            <a:r>
              <a:rPr lang="en-US" sz="2000" dirty="0" err="1"/>
              <a:t>hoặc</a:t>
            </a:r>
            <a:r>
              <a:rPr lang="en-US" sz="2000" dirty="0"/>
              <a:t> </a:t>
            </a:r>
            <a:r>
              <a:rPr lang="en-US" sz="2000" dirty="0" err="1"/>
              <a:t>sửa</a:t>
            </a:r>
            <a:r>
              <a:rPr lang="en-US" sz="2000" dirty="0"/>
              <a:t>.</a:t>
            </a:r>
          </a:p>
          <a:p>
            <a:pPr lvl="1"/>
            <a:r>
              <a:rPr lang="vi-VN" sz="2000" b="1" dirty="0"/>
              <a:t>	</a:t>
            </a:r>
            <a:r>
              <a:rPr lang="en-US" sz="2000" b="1" dirty="0"/>
              <a:t>Sửa</a:t>
            </a:r>
            <a:r>
              <a:rPr lang="en-US" sz="2000" dirty="0"/>
              <a:t>: </a:t>
            </a:r>
            <a:r>
              <a:rPr lang="en-US" sz="2000" dirty="0" err="1"/>
              <a:t>Chọn</a:t>
            </a:r>
            <a:r>
              <a:rPr lang="en-US" sz="2000" dirty="0"/>
              <a:t>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chỉnh</a:t>
            </a:r>
            <a:r>
              <a:rPr lang="en-US" sz="2000" dirty="0"/>
              <a:t> </a:t>
            </a:r>
            <a:r>
              <a:rPr lang="en-US" sz="2000" dirty="0" err="1"/>
              <a:t>sửa</a:t>
            </a:r>
            <a:r>
              <a:rPr lang="en-US" sz="2000" dirty="0"/>
              <a:t>.</a:t>
            </a:r>
          </a:p>
          <a:p>
            <a:pPr lvl="1"/>
            <a:r>
              <a:rPr lang="vi-VN" sz="2000" b="1" dirty="0"/>
              <a:t>	</a:t>
            </a:r>
            <a:r>
              <a:rPr lang="en-US" sz="2000" b="1" dirty="0" err="1"/>
              <a:t>Xóa</a:t>
            </a:r>
            <a:r>
              <a:rPr lang="en-US" sz="2000" dirty="0"/>
              <a:t>: </a:t>
            </a:r>
            <a:r>
              <a:rPr lang="en-US" sz="2000" dirty="0" err="1"/>
              <a:t>Xóa</a:t>
            </a:r>
            <a:r>
              <a:rPr lang="en-US" sz="2000" dirty="0"/>
              <a:t> </a:t>
            </a:r>
            <a:r>
              <a:rPr lang="en-US" sz="2000" dirty="0" err="1"/>
              <a:t>khách</a:t>
            </a:r>
            <a:r>
              <a:rPr lang="en-US" sz="2000" dirty="0"/>
              <a:t> </a:t>
            </a:r>
            <a:r>
              <a:rPr lang="en-US" sz="2000" dirty="0" err="1"/>
              <a:t>khỏi</a:t>
            </a:r>
            <a:r>
              <a:rPr lang="en-US" sz="2000" dirty="0"/>
              <a:t> </a:t>
            </a:r>
            <a:r>
              <a:rPr lang="en-US" sz="2000" dirty="0" err="1"/>
              <a:t>danh</a:t>
            </a:r>
            <a:r>
              <a:rPr lang="en-US" sz="2000" dirty="0"/>
              <a:t> </a:t>
            </a:r>
            <a:r>
              <a:rPr lang="en-US" sz="2000" dirty="0" err="1"/>
              <a:t>sách</a:t>
            </a:r>
            <a:r>
              <a:rPr lang="en-US" sz="2000" dirty="0"/>
              <a:t>.</a:t>
            </a:r>
          </a:p>
          <a:p>
            <a:pPr lvl="1"/>
            <a:r>
              <a:rPr lang="vi-VN" sz="2000" b="1" dirty="0"/>
              <a:t>	</a:t>
            </a:r>
            <a:r>
              <a:rPr lang="en-US" sz="2000" b="1" dirty="0" err="1"/>
              <a:t>Tải</a:t>
            </a:r>
            <a:r>
              <a:rPr lang="en-US" sz="2000" b="1" dirty="0"/>
              <a:t> </a:t>
            </a:r>
            <a:r>
              <a:rPr lang="en-US" sz="2000" b="1" dirty="0" err="1"/>
              <a:t>lại</a:t>
            </a:r>
            <a:r>
              <a:rPr lang="en-US" sz="2000" dirty="0"/>
              <a:t>: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mới</a:t>
            </a:r>
            <a:r>
              <a:rPr lang="en-US" sz="2000" dirty="0"/>
              <a:t> </a:t>
            </a:r>
            <a:r>
              <a:rPr lang="en-US" sz="2000" dirty="0" err="1"/>
              <a:t>bảng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.</a:t>
            </a:r>
          </a:p>
          <a:p>
            <a:pPr lvl="1"/>
            <a:r>
              <a:rPr lang="vi-VN" sz="2000" b="1" dirty="0"/>
              <a:t>	</a:t>
            </a:r>
            <a:r>
              <a:rPr lang="en-US" sz="2000" b="1" dirty="0" err="1"/>
              <a:t>Đóng</a:t>
            </a:r>
            <a:r>
              <a:rPr lang="en-US" sz="2000" dirty="0"/>
              <a:t>: </a:t>
            </a:r>
            <a:r>
              <a:rPr lang="en-US" sz="2000" dirty="0" err="1"/>
              <a:t>Thoát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175"/>
        </a:solidFill>
        <a:effectLst/>
      </p:bgPr>
    </p:bg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6" name="Google Shape;776;p35"/>
          <p:cNvGrpSpPr/>
          <p:nvPr/>
        </p:nvGrpSpPr>
        <p:grpSpPr>
          <a:xfrm>
            <a:off x="779224" y="545690"/>
            <a:ext cx="16771760" cy="9247239"/>
            <a:chOff x="0" y="0"/>
            <a:chExt cx="4316614" cy="2190416"/>
          </a:xfrm>
        </p:grpSpPr>
        <p:sp>
          <p:nvSpPr>
            <p:cNvPr id="777" name="Google Shape;777;p35"/>
            <p:cNvSpPr/>
            <p:nvPr/>
          </p:nvSpPr>
          <p:spPr>
            <a:xfrm>
              <a:off x="0" y="0"/>
              <a:ext cx="4316614" cy="2190416"/>
            </a:xfrm>
            <a:custGeom>
              <a:avLst/>
              <a:gdLst/>
              <a:ahLst/>
              <a:cxnLst/>
              <a:rect l="l" t="t" r="r" b="b"/>
              <a:pathLst>
                <a:path w="4316614" h="2190416" extrusionOk="0">
                  <a:moveTo>
                    <a:pt x="0" y="0"/>
                  </a:moveTo>
                  <a:lnTo>
                    <a:pt x="4316614" y="0"/>
                  </a:lnTo>
                  <a:lnTo>
                    <a:pt x="4316614" y="2190416"/>
                  </a:lnTo>
                  <a:lnTo>
                    <a:pt x="0" y="2190416"/>
                  </a:lnTo>
                  <a:close/>
                </a:path>
              </a:pathLst>
            </a:custGeom>
            <a:solidFill>
              <a:srgbClr val="FFFFFF"/>
            </a:solidFill>
            <a:ln w="1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 noProof="1"/>
            </a:p>
          </p:txBody>
        </p:sp>
        <p:sp>
          <p:nvSpPr>
            <p:cNvPr id="778" name="Google Shape;778;p35"/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81" name="Google Shape;781;p35"/>
          <p:cNvCxnSpPr/>
          <p:nvPr/>
        </p:nvCxnSpPr>
        <p:spPr>
          <a:xfrm>
            <a:off x="6633377" y="1546623"/>
            <a:ext cx="4617416" cy="0"/>
          </a:xfrm>
          <a:prstGeom prst="straightConnector1">
            <a:avLst/>
          </a:prstGeom>
          <a:noFill/>
          <a:ln w="57150" cap="flat" cmpd="sng">
            <a:solidFill>
              <a:srgbClr val="F8E17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15" name="Google Shape;815;p35"/>
          <p:cNvGrpSpPr/>
          <p:nvPr/>
        </p:nvGrpSpPr>
        <p:grpSpPr>
          <a:xfrm rot="1641976">
            <a:off x="16385207" y="8610640"/>
            <a:ext cx="943643" cy="1247363"/>
            <a:chOff x="14384114" y="1472421"/>
            <a:chExt cx="943643" cy="1247363"/>
          </a:xfrm>
        </p:grpSpPr>
        <p:sp>
          <p:nvSpPr>
            <p:cNvPr id="816" name="Google Shape;816;p35"/>
            <p:cNvSpPr/>
            <p:nvPr/>
          </p:nvSpPr>
          <p:spPr>
            <a:xfrm>
              <a:off x="14529498" y="1505897"/>
              <a:ext cx="649435" cy="933594"/>
            </a:xfrm>
            <a:custGeom>
              <a:avLst/>
              <a:gdLst/>
              <a:ahLst/>
              <a:cxnLst/>
              <a:rect l="l" t="t" r="r" b="b"/>
              <a:pathLst>
                <a:path w="649435" h="933594" extrusionOk="0">
                  <a:moveTo>
                    <a:pt x="298186" y="644"/>
                  </a:moveTo>
                  <a:cubicBezTo>
                    <a:pt x="373318" y="-4366"/>
                    <a:pt x="450108" y="19973"/>
                    <a:pt x="509189" y="69862"/>
                  </a:cubicBezTo>
                  <a:cubicBezTo>
                    <a:pt x="565854" y="117714"/>
                    <a:pt x="608500" y="182694"/>
                    <a:pt x="630673" y="253392"/>
                  </a:cubicBezTo>
                  <a:cubicBezTo>
                    <a:pt x="656167" y="334685"/>
                    <a:pt x="655401" y="423680"/>
                    <a:pt x="630084" y="504913"/>
                  </a:cubicBezTo>
                  <a:cubicBezTo>
                    <a:pt x="625557" y="519440"/>
                    <a:pt x="620483" y="533732"/>
                    <a:pt x="615124" y="547895"/>
                  </a:cubicBezTo>
                  <a:cubicBezTo>
                    <a:pt x="589516" y="615552"/>
                    <a:pt x="557351" y="680255"/>
                    <a:pt x="546758" y="753600"/>
                  </a:cubicBezTo>
                  <a:cubicBezTo>
                    <a:pt x="542397" y="783789"/>
                    <a:pt x="542847" y="813563"/>
                    <a:pt x="541771" y="843909"/>
                  </a:cubicBezTo>
                  <a:cubicBezTo>
                    <a:pt x="539410" y="910498"/>
                    <a:pt x="456453" y="921109"/>
                    <a:pt x="403354" y="927889"/>
                  </a:cubicBezTo>
                  <a:cubicBezTo>
                    <a:pt x="392944" y="929219"/>
                    <a:pt x="379608" y="930579"/>
                    <a:pt x="364705" y="931434"/>
                  </a:cubicBezTo>
                  <a:cubicBezTo>
                    <a:pt x="349829" y="932699"/>
                    <a:pt x="336436" y="933240"/>
                    <a:pt x="325943" y="933400"/>
                  </a:cubicBezTo>
                  <a:cubicBezTo>
                    <a:pt x="272418" y="934208"/>
                    <a:pt x="188797" y="935461"/>
                    <a:pt x="177016" y="869877"/>
                  </a:cubicBezTo>
                  <a:cubicBezTo>
                    <a:pt x="171647" y="839990"/>
                    <a:pt x="167871" y="810452"/>
                    <a:pt x="159272" y="781187"/>
                  </a:cubicBezTo>
                  <a:cubicBezTo>
                    <a:pt x="138384" y="710079"/>
                    <a:pt x="97368" y="650588"/>
                    <a:pt x="62425" y="587242"/>
                  </a:cubicBezTo>
                  <a:cubicBezTo>
                    <a:pt x="55110" y="573982"/>
                    <a:pt x="48061" y="560553"/>
                    <a:pt x="41519" y="546812"/>
                  </a:cubicBezTo>
                  <a:cubicBezTo>
                    <a:pt x="4939" y="469987"/>
                    <a:pt x="-8439" y="382005"/>
                    <a:pt x="5266" y="297923"/>
                  </a:cubicBezTo>
                  <a:cubicBezTo>
                    <a:pt x="22193" y="194070"/>
                    <a:pt x="83588" y="91903"/>
                    <a:pt x="176335" y="37673"/>
                  </a:cubicBezTo>
                  <a:cubicBezTo>
                    <a:pt x="214123" y="15582"/>
                    <a:pt x="255892" y="3463"/>
                    <a:pt x="298186" y="644"/>
                  </a:cubicBezTo>
                  <a:close/>
                </a:path>
              </a:pathLst>
            </a:custGeom>
            <a:solidFill>
              <a:srgbClr val="F8E1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35"/>
            <p:cNvSpPr/>
            <p:nvPr/>
          </p:nvSpPr>
          <p:spPr>
            <a:xfrm>
              <a:off x="14799799" y="2061275"/>
              <a:ext cx="143362" cy="383984"/>
            </a:xfrm>
            <a:custGeom>
              <a:avLst/>
              <a:gdLst/>
              <a:ahLst/>
              <a:cxnLst/>
              <a:rect l="l" t="t" r="r" b="b"/>
              <a:pathLst>
                <a:path w="143362" h="383984" extrusionOk="0">
                  <a:moveTo>
                    <a:pt x="128336" y="7937"/>
                  </a:moveTo>
                  <a:cubicBezTo>
                    <a:pt x="104649" y="-13248"/>
                    <a:pt x="86839" y="13091"/>
                    <a:pt x="69499" y="27515"/>
                  </a:cubicBezTo>
                  <a:cubicBezTo>
                    <a:pt x="57943" y="18966"/>
                    <a:pt x="50226" y="5859"/>
                    <a:pt x="34738" y="2708"/>
                  </a:cubicBezTo>
                  <a:cubicBezTo>
                    <a:pt x="21687" y="51"/>
                    <a:pt x="9118" y="6315"/>
                    <a:pt x="3342" y="18195"/>
                  </a:cubicBezTo>
                  <a:cubicBezTo>
                    <a:pt x="-2768" y="30761"/>
                    <a:pt x="240" y="44357"/>
                    <a:pt x="6417" y="56215"/>
                  </a:cubicBezTo>
                  <a:cubicBezTo>
                    <a:pt x="16141" y="74878"/>
                    <a:pt x="28089" y="90969"/>
                    <a:pt x="34811" y="111306"/>
                  </a:cubicBezTo>
                  <a:cubicBezTo>
                    <a:pt x="47862" y="150802"/>
                    <a:pt x="49449" y="193258"/>
                    <a:pt x="52707" y="234398"/>
                  </a:cubicBezTo>
                  <a:cubicBezTo>
                    <a:pt x="56386" y="280873"/>
                    <a:pt x="58889" y="327624"/>
                    <a:pt x="64013" y="373961"/>
                  </a:cubicBezTo>
                  <a:cubicBezTo>
                    <a:pt x="65596" y="388268"/>
                    <a:pt x="87133" y="386836"/>
                    <a:pt x="86389" y="372367"/>
                  </a:cubicBezTo>
                  <a:cubicBezTo>
                    <a:pt x="82853" y="303450"/>
                    <a:pt x="77761" y="233054"/>
                    <a:pt x="68683" y="164633"/>
                  </a:cubicBezTo>
                  <a:cubicBezTo>
                    <a:pt x="64827" y="135575"/>
                    <a:pt x="58662" y="106431"/>
                    <a:pt x="45803" y="79910"/>
                  </a:cubicBezTo>
                  <a:cubicBezTo>
                    <a:pt x="39541" y="66995"/>
                    <a:pt x="28958" y="55576"/>
                    <a:pt x="23781" y="42299"/>
                  </a:cubicBezTo>
                  <a:cubicBezTo>
                    <a:pt x="19114" y="34029"/>
                    <a:pt x="22284" y="28371"/>
                    <a:pt x="33286" y="25325"/>
                  </a:cubicBezTo>
                  <a:cubicBezTo>
                    <a:pt x="37774" y="27825"/>
                    <a:pt x="41685" y="31008"/>
                    <a:pt x="45017" y="34875"/>
                  </a:cubicBezTo>
                  <a:cubicBezTo>
                    <a:pt x="50837" y="40363"/>
                    <a:pt x="55859" y="45984"/>
                    <a:pt x="62271" y="50876"/>
                  </a:cubicBezTo>
                  <a:cubicBezTo>
                    <a:pt x="66963" y="54456"/>
                    <a:pt x="71778" y="54304"/>
                    <a:pt x="76805" y="51707"/>
                  </a:cubicBezTo>
                  <a:cubicBezTo>
                    <a:pt x="86489" y="46707"/>
                    <a:pt x="94821" y="29601"/>
                    <a:pt x="104088" y="26792"/>
                  </a:cubicBezTo>
                  <a:cubicBezTo>
                    <a:pt x="122825" y="21114"/>
                    <a:pt x="118771" y="56312"/>
                    <a:pt x="117521" y="66466"/>
                  </a:cubicBezTo>
                  <a:cubicBezTo>
                    <a:pt x="113782" y="96856"/>
                    <a:pt x="105828" y="126147"/>
                    <a:pt x="103723" y="156882"/>
                  </a:cubicBezTo>
                  <a:cubicBezTo>
                    <a:pt x="99585" y="217347"/>
                    <a:pt x="103936" y="279313"/>
                    <a:pt x="115746" y="338695"/>
                  </a:cubicBezTo>
                  <a:cubicBezTo>
                    <a:pt x="118055" y="350301"/>
                    <a:pt x="135257" y="349884"/>
                    <a:pt x="134633" y="337351"/>
                  </a:cubicBezTo>
                  <a:cubicBezTo>
                    <a:pt x="130560" y="255401"/>
                    <a:pt x="120414" y="176421"/>
                    <a:pt x="137059" y="94960"/>
                  </a:cubicBezTo>
                  <a:cubicBezTo>
                    <a:pt x="142368" y="68960"/>
                    <a:pt x="151466" y="28623"/>
                    <a:pt x="128336" y="7937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5"/>
            <p:cNvSpPr/>
            <p:nvPr/>
          </p:nvSpPr>
          <p:spPr>
            <a:xfrm>
              <a:off x="14751299" y="2581898"/>
              <a:ext cx="316422" cy="137886"/>
            </a:xfrm>
            <a:custGeom>
              <a:avLst/>
              <a:gdLst/>
              <a:ahLst/>
              <a:cxnLst/>
              <a:rect l="l" t="t" r="r" b="b"/>
              <a:pathLst>
                <a:path w="316422" h="137886" extrusionOk="0">
                  <a:moveTo>
                    <a:pt x="157597" y="26786"/>
                  </a:moveTo>
                  <a:cubicBezTo>
                    <a:pt x="163697" y="26173"/>
                    <a:pt x="169785" y="25449"/>
                    <a:pt x="175860" y="24611"/>
                  </a:cubicBezTo>
                  <a:cubicBezTo>
                    <a:pt x="199708" y="21320"/>
                    <a:pt x="224113" y="16852"/>
                    <a:pt x="247046" y="9383"/>
                  </a:cubicBezTo>
                  <a:cubicBezTo>
                    <a:pt x="264470" y="3708"/>
                    <a:pt x="287657" y="-6374"/>
                    <a:pt x="304827" y="5616"/>
                  </a:cubicBezTo>
                  <a:cubicBezTo>
                    <a:pt x="323788" y="18858"/>
                    <a:pt x="316580" y="38230"/>
                    <a:pt x="303933" y="54969"/>
                  </a:cubicBezTo>
                  <a:cubicBezTo>
                    <a:pt x="295477" y="66161"/>
                    <a:pt x="284592" y="76177"/>
                    <a:pt x="277471" y="82399"/>
                  </a:cubicBezTo>
                  <a:cubicBezTo>
                    <a:pt x="247368" y="108701"/>
                    <a:pt x="209053" y="135771"/>
                    <a:pt x="167925" y="137704"/>
                  </a:cubicBezTo>
                  <a:cubicBezTo>
                    <a:pt x="122497" y="139840"/>
                    <a:pt x="83997" y="122958"/>
                    <a:pt x="46823" y="98819"/>
                  </a:cubicBezTo>
                  <a:cubicBezTo>
                    <a:pt x="38891" y="93670"/>
                    <a:pt x="26695" y="85298"/>
                    <a:pt x="16739" y="75416"/>
                  </a:cubicBezTo>
                  <a:cubicBezTo>
                    <a:pt x="1846" y="60637"/>
                    <a:pt x="-8035" y="42483"/>
                    <a:pt x="8857" y="26686"/>
                  </a:cubicBezTo>
                  <a:cubicBezTo>
                    <a:pt x="24152" y="12384"/>
                    <a:pt x="48535" y="19080"/>
                    <a:pt x="66588" y="22231"/>
                  </a:cubicBezTo>
                  <a:cubicBezTo>
                    <a:pt x="90349" y="26375"/>
                    <a:pt x="115141" y="27343"/>
                    <a:pt x="139214" y="27220"/>
                  </a:cubicBezTo>
                  <a:cubicBezTo>
                    <a:pt x="145342" y="27188"/>
                    <a:pt x="151472" y="27043"/>
                    <a:pt x="157597" y="26786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35"/>
            <p:cNvSpPr/>
            <p:nvPr/>
          </p:nvSpPr>
          <p:spPr>
            <a:xfrm>
              <a:off x="14699636" y="2510297"/>
              <a:ext cx="403096" cy="146097"/>
            </a:xfrm>
            <a:custGeom>
              <a:avLst/>
              <a:gdLst/>
              <a:ahLst/>
              <a:cxnLst/>
              <a:rect l="l" t="t" r="r" b="b"/>
              <a:pathLst>
                <a:path w="403096" h="146097" extrusionOk="0">
                  <a:moveTo>
                    <a:pt x="389219" y="0"/>
                  </a:moveTo>
                  <a:cubicBezTo>
                    <a:pt x="389219" y="0"/>
                    <a:pt x="326391" y="37526"/>
                    <a:pt x="190443" y="39576"/>
                  </a:cubicBezTo>
                  <a:cubicBezTo>
                    <a:pt x="54495" y="41627"/>
                    <a:pt x="15047" y="14559"/>
                    <a:pt x="15047" y="14559"/>
                  </a:cubicBezTo>
                  <a:cubicBezTo>
                    <a:pt x="15047" y="14559"/>
                    <a:pt x="-18493" y="43645"/>
                    <a:pt x="14578" y="97227"/>
                  </a:cubicBezTo>
                  <a:cubicBezTo>
                    <a:pt x="47649" y="150809"/>
                    <a:pt x="241804" y="161883"/>
                    <a:pt x="335005" y="122723"/>
                  </a:cubicBezTo>
                  <a:cubicBezTo>
                    <a:pt x="444297" y="76805"/>
                    <a:pt x="389219" y="0"/>
                    <a:pt x="389219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35"/>
            <p:cNvSpPr/>
            <p:nvPr/>
          </p:nvSpPr>
          <p:spPr>
            <a:xfrm>
              <a:off x="14693958" y="2430611"/>
              <a:ext cx="403095" cy="146097"/>
            </a:xfrm>
            <a:custGeom>
              <a:avLst/>
              <a:gdLst/>
              <a:ahLst/>
              <a:cxnLst/>
              <a:rect l="l" t="t" r="r" b="b"/>
              <a:pathLst>
                <a:path w="403095" h="146097" extrusionOk="0">
                  <a:moveTo>
                    <a:pt x="389219" y="0"/>
                  </a:moveTo>
                  <a:cubicBezTo>
                    <a:pt x="389219" y="0"/>
                    <a:pt x="326391" y="37526"/>
                    <a:pt x="190443" y="39576"/>
                  </a:cubicBezTo>
                  <a:cubicBezTo>
                    <a:pt x="54495" y="41627"/>
                    <a:pt x="15047" y="14559"/>
                    <a:pt x="15047" y="14559"/>
                  </a:cubicBezTo>
                  <a:cubicBezTo>
                    <a:pt x="15047" y="14559"/>
                    <a:pt x="-18493" y="43645"/>
                    <a:pt x="14578" y="97227"/>
                  </a:cubicBezTo>
                  <a:cubicBezTo>
                    <a:pt x="47649" y="150809"/>
                    <a:pt x="241804" y="161883"/>
                    <a:pt x="335005" y="122723"/>
                  </a:cubicBezTo>
                  <a:cubicBezTo>
                    <a:pt x="444294" y="76805"/>
                    <a:pt x="389219" y="0"/>
                    <a:pt x="389219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35"/>
            <p:cNvSpPr/>
            <p:nvPr/>
          </p:nvSpPr>
          <p:spPr>
            <a:xfrm>
              <a:off x="14688821" y="2363628"/>
              <a:ext cx="403094" cy="140982"/>
            </a:xfrm>
            <a:custGeom>
              <a:avLst/>
              <a:gdLst/>
              <a:ahLst/>
              <a:cxnLst/>
              <a:rect l="l" t="t" r="r" b="b"/>
              <a:pathLst>
                <a:path w="403094" h="140982" extrusionOk="0">
                  <a:moveTo>
                    <a:pt x="397032" y="9778"/>
                  </a:moveTo>
                  <a:cubicBezTo>
                    <a:pt x="393692" y="1551"/>
                    <a:pt x="384160" y="-2211"/>
                    <a:pt x="376016" y="1334"/>
                  </a:cubicBezTo>
                  <a:cubicBezTo>
                    <a:pt x="351149" y="12158"/>
                    <a:pt x="290665" y="32949"/>
                    <a:pt x="190443" y="34461"/>
                  </a:cubicBezTo>
                  <a:cubicBezTo>
                    <a:pt x="93025" y="35931"/>
                    <a:pt x="45158" y="22449"/>
                    <a:pt x="25849" y="14688"/>
                  </a:cubicBezTo>
                  <a:cubicBezTo>
                    <a:pt x="18272" y="11642"/>
                    <a:pt x="9546" y="14808"/>
                    <a:pt x="5860" y="22090"/>
                  </a:cubicBezTo>
                  <a:cubicBezTo>
                    <a:pt x="-899" y="35439"/>
                    <a:pt x="-5774" y="59136"/>
                    <a:pt x="14578" y="92112"/>
                  </a:cubicBezTo>
                  <a:cubicBezTo>
                    <a:pt x="47649" y="145694"/>
                    <a:pt x="241805" y="156768"/>
                    <a:pt x="335005" y="117608"/>
                  </a:cubicBezTo>
                  <a:cubicBezTo>
                    <a:pt x="414553" y="84186"/>
                    <a:pt x="407020" y="34401"/>
                    <a:pt x="397032" y="9778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35"/>
            <p:cNvSpPr/>
            <p:nvPr/>
          </p:nvSpPr>
          <p:spPr>
            <a:xfrm>
              <a:off x="14845948" y="1564673"/>
              <a:ext cx="299435" cy="475709"/>
            </a:xfrm>
            <a:custGeom>
              <a:avLst/>
              <a:gdLst/>
              <a:ahLst/>
              <a:cxnLst/>
              <a:rect l="l" t="t" r="r" b="b"/>
              <a:pathLst>
                <a:path w="299435" h="475709" extrusionOk="0">
                  <a:moveTo>
                    <a:pt x="282839" y="423448"/>
                  </a:moveTo>
                  <a:cubicBezTo>
                    <a:pt x="277176" y="436790"/>
                    <a:pt x="269770" y="449568"/>
                    <a:pt x="259285" y="459539"/>
                  </a:cubicBezTo>
                  <a:cubicBezTo>
                    <a:pt x="238247" y="479547"/>
                    <a:pt x="207083" y="482885"/>
                    <a:pt x="187650" y="458731"/>
                  </a:cubicBezTo>
                  <a:cubicBezTo>
                    <a:pt x="171104" y="438120"/>
                    <a:pt x="170083" y="409408"/>
                    <a:pt x="165493" y="384548"/>
                  </a:cubicBezTo>
                  <a:cubicBezTo>
                    <a:pt x="160514" y="357585"/>
                    <a:pt x="153103" y="331076"/>
                    <a:pt x="143434" y="305420"/>
                  </a:cubicBezTo>
                  <a:cubicBezTo>
                    <a:pt x="124098" y="254109"/>
                    <a:pt x="95724" y="206170"/>
                    <a:pt x="59708" y="164790"/>
                  </a:cubicBezTo>
                  <a:cubicBezTo>
                    <a:pt x="44850" y="147721"/>
                    <a:pt x="28639" y="131615"/>
                    <a:pt x="16586" y="112463"/>
                  </a:cubicBezTo>
                  <a:cubicBezTo>
                    <a:pt x="4533" y="93311"/>
                    <a:pt x="-3154" y="70202"/>
                    <a:pt x="1259" y="48012"/>
                  </a:cubicBezTo>
                  <a:cubicBezTo>
                    <a:pt x="8240" y="12913"/>
                    <a:pt x="45082" y="-850"/>
                    <a:pt x="77407" y="40"/>
                  </a:cubicBezTo>
                  <a:cubicBezTo>
                    <a:pt x="134401" y="1612"/>
                    <a:pt x="175774" y="44661"/>
                    <a:pt x="207754" y="87042"/>
                  </a:cubicBezTo>
                  <a:cubicBezTo>
                    <a:pt x="242433" y="132997"/>
                    <a:pt x="268775" y="185257"/>
                    <a:pt x="284804" y="240555"/>
                  </a:cubicBezTo>
                  <a:cubicBezTo>
                    <a:pt x="301851" y="299370"/>
                    <a:pt x="306957" y="364084"/>
                    <a:pt x="283927" y="420824"/>
                  </a:cubicBezTo>
                  <a:cubicBezTo>
                    <a:pt x="283573" y="421699"/>
                    <a:pt x="283209" y="422575"/>
                    <a:pt x="282839" y="423448"/>
                  </a:cubicBezTo>
                  <a:close/>
                </a:path>
              </a:pathLst>
            </a:custGeom>
            <a:solidFill>
              <a:srgbClr val="F8E1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35"/>
            <p:cNvSpPr/>
            <p:nvPr/>
          </p:nvSpPr>
          <p:spPr>
            <a:xfrm>
              <a:off x="15013033" y="2084269"/>
              <a:ext cx="66159" cy="94174"/>
            </a:xfrm>
            <a:custGeom>
              <a:avLst/>
              <a:gdLst/>
              <a:ahLst/>
              <a:cxnLst/>
              <a:rect l="l" t="t" r="r" b="b"/>
              <a:pathLst>
                <a:path w="66159" h="94174" extrusionOk="0">
                  <a:moveTo>
                    <a:pt x="58740" y="9301"/>
                  </a:moveTo>
                  <a:cubicBezTo>
                    <a:pt x="45364" y="-7184"/>
                    <a:pt x="21575" y="63"/>
                    <a:pt x="10920" y="16855"/>
                  </a:cubicBezTo>
                  <a:cubicBezTo>
                    <a:pt x="874" y="32686"/>
                    <a:pt x="-1749" y="54640"/>
                    <a:pt x="1054" y="72914"/>
                  </a:cubicBezTo>
                  <a:cubicBezTo>
                    <a:pt x="6440" y="108010"/>
                    <a:pt x="36516" y="93570"/>
                    <a:pt x="50206" y="73079"/>
                  </a:cubicBezTo>
                  <a:cubicBezTo>
                    <a:pt x="56246" y="64038"/>
                    <a:pt x="61895" y="54515"/>
                    <a:pt x="64595" y="43985"/>
                  </a:cubicBezTo>
                  <a:cubicBezTo>
                    <a:pt x="67296" y="33455"/>
                    <a:pt x="66749" y="21687"/>
                    <a:pt x="60991" y="12464"/>
                  </a:cubicBezTo>
                  <a:cubicBezTo>
                    <a:pt x="60280" y="11327"/>
                    <a:pt x="59526" y="10274"/>
                    <a:pt x="58740" y="9301"/>
                  </a:cubicBezTo>
                  <a:close/>
                </a:path>
              </a:pathLst>
            </a:custGeom>
            <a:solidFill>
              <a:srgbClr val="F8E17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35"/>
            <p:cNvSpPr/>
            <p:nvPr/>
          </p:nvSpPr>
          <p:spPr>
            <a:xfrm>
              <a:off x="15203889" y="1535292"/>
              <a:ext cx="99025" cy="108006"/>
            </a:xfrm>
            <a:custGeom>
              <a:avLst/>
              <a:gdLst/>
              <a:ahLst/>
              <a:cxnLst/>
              <a:rect l="l" t="t" r="r" b="b"/>
              <a:pathLst>
                <a:path w="99025" h="108006" extrusionOk="0">
                  <a:moveTo>
                    <a:pt x="82639" y="2950"/>
                  </a:moveTo>
                  <a:cubicBezTo>
                    <a:pt x="53828" y="32582"/>
                    <a:pt x="27401" y="65076"/>
                    <a:pt x="1581" y="97310"/>
                  </a:cubicBezTo>
                  <a:cubicBezTo>
                    <a:pt x="-4112" y="104418"/>
                    <a:pt x="6960" y="112061"/>
                    <a:pt x="12823" y="105520"/>
                  </a:cubicBezTo>
                  <a:cubicBezTo>
                    <a:pt x="39542" y="75706"/>
                    <a:pt x="67978" y="47835"/>
                    <a:pt x="95850" y="19165"/>
                  </a:cubicBezTo>
                  <a:cubicBezTo>
                    <a:pt x="105135" y="9615"/>
                    <a:pt x="92021" y="-6703"/>
                    <a:pt x="82639" y="2950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35"/>
            <p:cNvSpPr/>
            <p:nvPr/>
          </p:nvSpPr>
          <p:spPr>
            <a:xfrm>
              <a:off x="15258048" y="1701257"/>
              <a:ext cx="69709" cy="44404"/>
            </a:xfrm>
            <a:custGeom>
              <a:avLst/>
              <a:gdLst/>
              <a:ahLst/>
              <a:cxnLst/>
              <a:rect l="l" t="t" r="r" b="b"/>
              <a:pathLst>
                <a:path w="69709" h="44404" extrusionOk="0">
                  <a:moveTo>
                    <a:pt x="60886" y="619"/>
                  </a:moveTo>
                  <a:cubicBezTo>
                    <a:pt x="42776" y="9777"/>
                    <a:pt x="23173" y="16383"/>
                    <a:pt x="5364" y="25923"/>
                  </a:cubicBezTo>
                  <a:cubicBezTo>
                    <a:pt x="-5556" y="31773"/>
                    <a:pt x="1753" y="48338"/>
                    <a:pt x="13384" y="43546"/>
                  </a:cubicBezTo>
                  <a:cubicBezTo>
                    <a:pt x="32358" y="35727"/>
                    <a:pt x="50313" y="22408"/>
                    <a:pt x="67351" y="11034"/>
                  </a:cubicBezTo>
                  <a:cubicBezTo>
                    <a:pt x="73189" y="7135"/>
                    <a:pt x="67103" y="-2525"/>
                    <a:pt x="60886" y="619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35"/>
            <p:cNvSpPr/>
            <p:nvPr/>
          </p:nvSpPr>
          <p:spPr>
            <a:xfrm>
              <a:off x="15239616" y="1884230"/>
              <a:ext cx="62014" cy="25494"/>
            </a:xfrm>
            <a:custGeom>
              <a:avLst/>
              <a:gdLst/>
              <a:ahLst/>
              <a:cxnLst/>
              <a:rect l="l" t="t" r="r" b="b"/>
              <a:pathLst>
                <a:path w="62014" h="25494" extrusionOk="0">
                  <a:moveTo>
                    <a:pt x="56713" y="13167"/>
                  </a:moveTo>
                  <a:cubicBezTo>
                    <a:pt x="41336" y="10204"/>
                    <a:pt x="26919" y="5439"/>
                    <a:pt x="12106" y="506"/>
                  </a:cubicBezTo>
                  <a:cubicBezTo>
                    <a:pt x="1136" y="-3146"/>
                    <a:pt x="-5261" y="14048"/>
                    <a:pt x="5646" y="17101"/>
                  </a:cubicBezTo>
                  <a:cubicBezTo>
                    <a:pt x="21820" y="21627"/>
                    <a:pt x="38757" y="23930"/>
                    <a:pt x="55455" y="25461"/>
                  </a:cubicBezTo>
                  <a:cubicBezTo>
                    <a:pt x="63492" y="26197"/>
                    <a:pt x="64416" y="14652"/>
                    <a:pt x="56713" y="13167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35"/>
            <p:cNvSpPr/>
            <p:nvPr/>
          </p:nvSpPr>
          <p:spPr>
            <a:xfrm>
              <a:off x="15214456" y="2063507"/>
              <a:ext cx="80136" cy="43215"/>
            </a:xfrm>
            <a:custGeom>
              <a:avLst/>
              <a:gdLst/>
              <a:ahLst/>
              <a:cxnLst/>
              <a:rect l="l" t="t" r="r" b="b"/>
              <a:pathLst>
                <a:path w="80136" h="43215" extrusionOk="0">
                  <a:moveTo>
                    <a:pt x="76209" y="30602"/>
                  </a:moveTo>
                  <a:cubicBezTo>
                    <a:pt x="55311" y="20755"/>
                    <a:pt x="34635" y="10080"/>
                    <a:pt x="13457" y="875"/>
                  </a:cubicBezTo>
                  <a:cubicBezTo>
                    <a:pt x="1574" y="-4292"/>
                    <a:pt x="-5949" y="14915"/>
                    <a:pt x="6151" y="19645"/>
                  </a:cubicBezTo>
                  <a:cubicBezTo>
                    <a:pt x="27616" y="28035"/>
                    <a:pt x="49757" y="35030"/>
                    <a:pt x="71475" y="42766"/>
                  </a:cubicBezTo>
                  <a:cubicBezTo>
                    <a:pt x="79464" y="45613"/>
                    <a:pt x="83754" y="34157"/>
                    <a:pt x="76209" y="30602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35"/>
            <p:cNvSpPr/>
            <p:nvPr/>
          </p:nvSpPr>
          <p:spPr>
            <a:xfrm>
              <a:off x="15156082" y="2249802"/>
              <a:ext cx="107619" cy="103026"/>
            </a:xfrm>
            <a:custGeom>
              <a:avLst/>
              <a:gdLst/>
              <a:ahLst/>
              <a:cxnLst/>
              <a:rect l="l" t="t" r="r" b="b"/>
              <a:pathLst>
                <a:path w="107619" h="103026" extrusionOk="0">
                  <a:moveTo>
                    <a:pt x="106177" y="92952"/>
                  </a:moveTo>
                  <a:cubicBezTo>
                    <a:pt x="79568" y="63128"/>
                    <a:pt x="51257" y="34880"/>
                    <a:pt x="24688" y="5008"/>
                  </a:cubicBezTo>
                  <a:cubicBezTo>
                    <a:pt x="11317" y="-10025"/>
                    <a:pt x="-10308" y="12377"/>
                    <a:pt x="5621" y="25090"/>
                  </a:cubicBezTo>
                  <a:cubicBezTo>
                    <a:pt x="36873" y="50033"/>
                    <a:pt x="66589" y="76799"/>
                    <a:pt x="97796" y="101783"/>
                  </a:cubicBezTo>
                  <a:cubicBezTo>
                    <a:pt x="103202" y="106109"/>
                    <a:pt x="110830" y="98166"/>
                    <a:pt x="106177" y="92952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35"/>
            <p:cNvSpPr/>
            <p:nvPr/>
          </p:nvSpPr>
          <p:spPr>
            <a:xfrm>
              <a:off x="14459139" y="2200805"/>
              <a:ext cx="108388" cy="98379"/>
            </a:xfrm>
            <a:custGeom>
              <a:avLst/>
              <a:gdLst/>
              <a:ahLst/>
              <a:cxnLst/>
              <a:rect l="l" t="t" r="r" b="b"/>
              <a:pathLst>
                <a:path w="108388" h="98379" extrusionOk="0">
                  <a:moveTo>
                    <a:pt x="85895" y="3636"/>
                  </a:moveTo>
                  <a:cubicBezTo>
                    <a:pt x="58171" y="32121"/>
                    <a:pt x="28566" y="58667"/>
                    <a:pt x="1645" y="87945"/>
                  </a:cubicBezTo>
                  <a:cubicBezTo>
                    <a:pt x="-3786" y="93853"/>
                    <a:pt x="5477" y="101369"/>
                    <a:pt x="11350" y="97148"/>
                  </a:cubicBezTo>
                  <a:cubicBezTo>
                    <a:pt x="43020" y="74389"/>
                    <a:pt x="72313" y="48648"/>
                    <a:pt x="103310" y="25011"/>
                  </a:cubicBezTo>
                  <a:cubicBezTo>
                    <a:pt x="117743" y="14004"/>
                    <a:pt x="98063" y="-8865"/>
                    <a:pt x="85895" y="3636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35"/>
            <p:cNvSpPr/>
            <p:nvPr/>
          </p:nvSpPr>
          <p:spPr>
            <a:xfrm>
              <a:off x="14442002" y="2073822"/>
              <a:ext cx="52277" cy="38909"/>
            </a:xfrm>
            <a:custGeom>
              <a:avLst/>
              <a:gdLst/>
              <a:ahLst/>
              <a:cxnLst/>
              <a:rect l="l" t="t" r="r" b="b"/>
              <a:pathLst>
                <a:path w="52277" h="38909" extrusionOk="0">
                  <a:moveTo>
                    <a:pt x="37332" y="1335"/>
                  </a:moveTo>
                  <a:cubicBezTo>
                    <a:pt x="31144" y="4498"/>
                    <a:pt x="26507" y="10226"/>
                    <a:pt x="21043" y="14542"/>
                  </a:cubicBezTo>
                  <a:cubicBezTo>
                    <a:pt x="15550" y="18883"/>
                    <a:pt x="9550" y="22717"/>
                    <a:pt x="3602" y="26402"/>
                  </a:cubicBezTo>
                  <a:cubicBezTo>
                    <a:pt x="-3576" y="30845"/>
                    <a:pt x="871" y="41236"/>
                    <a:pt x="9080" y="38439"/>
                  </a:cubicBezTo>
                  <a:cubicBezTo>
                    <a:pt x="16034" y="36069"/>
                    <a:pt x="22663" y="33218"/>
                    <a:pt x="29347" y="30191"/>
                  </a:cubicBezTo>
                  <a:cubicBezTo>
                    <a:pt x="35742" y="27295"/>
                    <a:pt x="43856" y="24883"/>
                    <a:pt x="48858" y="19911"/>
                  </a:cubicBezTo>
                  <a:cubicBezTo>
                    <a:pt x="57105" y="11710"/>
                    <a:pt x="49327" y="-4795"/>
                    <a:pt x="37332" y="1335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35"/>
            <p:cNvSpPr/>
            <p:nvPr/>
          </p:nvSpPr>
          <p:spPr>
            <a:xfrm>
              <a:off x="14384114" y="1841401"/>
              <a:ext cx="72925" cy="25465"/>
            </a:xfrm>
            <a:custGeom>
              <a:avLst/>
              <a:gdLst/>
              <a:ahLst/>
              <a:cxnLst/>
              <a:rect l="l" t="t" r="r" b="b"/>
              <a:pathLst>
                <a:path w="72925" h="25465" extrusionOk="0">
                  <a:moveTo>
                    <a:pt x="63127" y="0"/>
                  </a:moveTo>
                  <a:cubicBezTo>
                    <a:pt x="43896" y="45"/>
                    <a:pt x="21902" y="6080"/>
                    <a:pt x="3544" y="11750"/>
                  </a:cubicBezTo>
                  <a:cubicBezTo>
                    <a:pt x="-2668" y="13669"/>
                    <a:pt x="137" y="22425"/>
                    <a:pt x="5434" y="23276"/>
                  </a:cubicBezTo>
                  <a:cubicBezTo>
                    <a:pt x="24258" y="26294"/>
                    <a:pt x="48314" y="26738"/>
                    <a:pt x="66581" y="21075"/>
                  </a:cubicBezTo>
                  <a:cubicBezTo>
                    <a:pt x="76922" y="17867"/>
                    <a:pt x="73802" y="-25"/>
                    <a:pt x="63127" y="0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35"/>
            <p:cNvSpPr/>
            <p:nvPr/>
          </p:nvSpPr>
          <p:spPr>
            <a:xfrm>
              <a:off x="14458516" y="1634873"/>
              <a:ext cx="43326" cy="25113"/>
            </a:xfrm>
            <a:custGeom>
              <a:avLst/>
              <a:gdLst/>
              <a:ahLst/>
              <a:cxnLst/>
              <a:rect l="l" t="t" r="r" b="b"/>
              <a:pathLst>
                <a:path w="43326" h="25113" extrusionOk="0">
                  <a:moveTo>
                    <a:pt x="34836" y="5677"/>
                  </a:moveTo>
                  <a:cubicBezTo>
                    <a:pt x="26250" y="4088"/>
                    <a:pt x="18315" y="5166"/>
                    <a:pt x="10303" y="770"/>
                  </a:cubicBezTo>
                  <a:cubicBezTo>
                    <a:pt x="4785" y="-2259"/>
                    <a:pt x="-3746" y="4255"/>
                    <a:pt x="1802" y="9724"/>
                  </a:cubicBezTo>
                  <a:cubicBezTo>
                    <a:pt x="10698" y="18488"/>
                    <a:pt x="22501" y="26396"/>
                    <a:pt x="35460" y="24939"/>
                  </a:cubicBezTo>
                  <a:cubicBezTo>
                    <a:pt x="46981" y="23642"/>
                    <a:pt x="45049" y="7566"/>
                    <a:pt x="34836" y="5677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35"/>
            <p:cNvSpPr/>
            <p:nvPr/>
          </p:nvSpPr>
          <p:spPr>
            <a:xfrm>
              <a:off x="14502373" y="1472421"/>
              <a:ext cx="105458" cy="90370"/>
            </a:xfrm>
            <a:custGeom>
              <a:avLst/>
              <a:gdLst/>
              <a:ahLst/>
              <a:cxnLst/>
              <a:rect l="l" t="t" r="r" b="b"/>
              <a:pathLst>
                <a:path w="105458" h="90370" extrusionOk="0">
                  <a:moveTo>
                    <a:pt x="96559" y="62804"/>
                  </a:moveTo>
                  <a:cubicBezTo>
                    <a:pt x="88350" y="60581"/>
                    <a:pt x="81294" y="52830"/>
                    <a:pt x="74664" y="47691"/>
                  </a:cubicBezTo>
                  <a:cubicBezTo>
                    <a:pt x="66887" y="41661"/>
                    <a:pt x="59112" y="35632"/>
                    <a:pt x="51335" y="29602"/>
                  </a:cubicBezTo>
                  <a:cubicBezTo>
                    <a:pt x="38316" y="19506"/>
                    <a:pt x="23865" y="4934"/>
                    <a:pt x="7833" y="249"/>
                  </a:cubicBezTo>
                  <a:cubicBezTo>
                    <a:pt x="3288" y="-1081"/>
                    <a:pt x="-1711" y="3123"/>
                    <a:pt x="570" y="7928"/>
                  </a:cubicBezTo>
                  <a:cubicBezTo>
                    <a:pt x="8383" y="24398"/>
                    <a:pt x="26820" y="37333"/>
                    <a:pt x="40008" y="49637"/>
                  </a:cubicBezTo>
                  <a:cubicBezTo>
                    <a:pt x="53801" y="62502"/>
                    <a:pt x="68717" y="81859"/>
                    <a:pt x="86271" y="89226"/>
                  </a:cubicBezTo>
                  <a:cubicBezTo>
                    <a:pt x="103425" y="96426"/>
                    <a:pt x="113900" y="67499"/>
                    <a:pt x="96559" y="62804"/>
                  </a:cubicBezTo>
                  <a:close/>
                </a:path>
              </a:pathLst>
            </a:custGeom>
            <a:solidFill>
              <a:srgbClr val="FDCB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BA72440B-CC11-5BC4-7C8F-959557F04B15}"/>
              </a:ext>
            </a:extLst>
          </p:cNvPr>
          <p:cNvSpPr txBox="1"/>
          <p:nvPr/>
        </p:nvSpPr>
        <p:spPr>
          <a:xfrm>
            <a:off x="4104614" y="710486"/>
            <a:ext cx="9144000" cy="57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800" noProof="1">
                <a:solidFill>
                  <a:srgbClr val="545454"/>
                </a:solidFill>
                <a:latin typeface="Time news New Roman"/>
                <a:ea typeface="Ubuntu"/>
                <a:cs typeface="Ubuntu"/>
                <a:sym typeface="Ubuntu"/>
              </a:rPr>
              <a:t>2.5.Quản lý nhân viên</a:t>
            </a:r>
            <a:endParaRPr lang="vi-VN" sz="2800" noProof="1">
              <a:latin typeface="Time news New Roman"/>
            </a:endParaRPr>
          </a:p>
        </p:txBody>
      </p:sp>
      <p:pic>
        <p:nvPicPr>
          <p:cNvPr id="2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CB252D-74E3-9352-0EEC-F5EB810705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897" y="2219089"/>
            <a:ext cx="10714421" cy="6061691"/>
          </a:xfrm>
          <a:prstGeom prst="rect">
            <a:avLst/>
          </a:prstGeom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E74CC49-D0B1-AFDD-B8AE-E87BE5AD40F3}"/>
              </a:ext>
            </a:extLst>
          </p:cNvPr>
          <p:cNvSpPr txBox="1"/>
          <p:nvPr/>
        </p:nvSpPr>
        <p:spPr>
          <a:xfrm>
            <a:off x="11923789" y="3510998"/>
            <a:ext cx="588966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base">
              <a:buFont typeface="Wingdings" panose="05000000000000000000" pitchFamily="2" charset="2"/>
              <a:buChar char="q"/>
            </a:pPr>
            <a:r>
              <a:rPr lang="en-US" sz="2000" dirty="0" err="1"/>
              <a:t>Chức</a:t>
            </a:r>
            <a:r>
              <a:rPr lang="en-US" sz="2000" dirty="0"/>
              <a:t> </a:t>
            </a:r>
            <a:r>
              <a:rPr lang="en-US" sz="2000" dirty="0" err="1"/>
              <a:t>năng</a:t>
            </a:r>
            <a:endParaRPr lang="en-US" sz="2000" dirty="0"/>
          </a:p>
          <a:p>
            <a:pPr lvl="1"/>
            <a:r>
              <a:rPr lang="vi-VN" sz="2000" dirty="0"/>
              <a:t>	</a:t>
            </a:r>
            <a:r>
              <a:rPr lang="en-US" sz="2000" dirty="0"/>
              <a:t>Quan </a:t>
            </a:r>
            <a:r>
              <a:rPr lang="en-US" sz="2000" dirty="0" err="1"/>
              <a:t>sát</a:t>
            </a:r>
            <a:r>
              <a:rPr lang="en-US" sz="2000" dirty="0"/>
              <a:t> </a:t>
            </a:r>
            <a:r>
              <a:rPr lang="en-US" sz="2000" dirty="0" err="1"/>
              <a:t>danh</a:t>
            </a:r>
            <a:r>
              <a:rPr lang="en-US" sz="2000" dirty="0"/>
              <a:t> </a:t>
            </a:r>
            <a:r>
              <a:rPr lang="en-US" sz="2000" dirty="0" err="1"/>
              <a:t>sách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.</a:t>
            </a:r>
          </a:p>
          <a:p>
            <a:pPr lvl="1"/>
            <a:r>
              <a:rPr lang="vi-VN" sz="2000" dirty="0"/>
              <a:t>	</a:t>
            </a:r>
            <a:r>
              <a:rPr lang="en-US" sz="2000" dirty="0" err="1"/>
              <a:t>Chọn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xem</a:t>
            </a:r>
            <a:r>
              <a:rPr lang="en-US" sz="2000" dirty="0"/>
              <a:t> chi </a:t>
            </a:r>
            <a:r>
              <a:rPr lang="en-US" sz="2000" dirty="0" err="1"/>
              <a:t>tiết</a:t>
            </a:r>
            <a:r>
              <a:rPr lang="en-US" sz="2000" dirty="0"/>
              <a:t> </a:t>
            </a:r>
            <a:r>
              <a:rPr lang="en-US" sz="2000" dirty="0" err="1"/>
              <a:t>hoặc</a:t>
            </a:r>
            <a:r>
              <a:rPr lang="en-US" sz="2000" dirty="0"/>
              <a:t> </a:t>
            </a:r>
            <a:r>
              <a:rPr lang="en-US" sz="2000" dirty="0" err="1"/>
              <a:t>sửa</a:t>
            </a:r>
            <a:r>
              <a:rPr lang="en-US" sz="2000" dirty="0"/>
              <a:t>.</a:t>
            </a:r>
          </a:p>
          <a:p>
            <a:pPr lvl="1"/>
            <a:r>
              <a:rPr lang="vi-VN" sz="2000" dirty="0"/>
              <a:t>	</a:t>
            </a:r>
            <a:r>
              <a:rPr lang="en-US" sz="2000" dirty="0"/>
              <a:t>Theo </a:t>
            </a:r>
            <a:r>
              <a:rPr lang="en-US" sz="2000" dirty="0" err="1"/>
              <a:t>dõi</a:t>
            </a:r>
            <a:r>
              <a:rPr lang="en-US" sz="2000" dirty="0"/>
              <a:t> ca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hiệu</a:t>
            </a:r>
            <a:r>
              <a:rPr lang="en-US" sz="2000" dirty="0"/>
              <a:t> </a:t>
            </a:r>
            <a:r>
              <a:rPr lang="en-US" sz="2000" dirty="0" err="1"/>
              <a:t>suất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.</a:t>
            </a:r>
          </a:p>
          <a:p>
            <a:pPr marL="342900" lvl="0" indent="-342900" fontAlgn="base">
              <a:buFont typeface="Wingdings" panose="05000000000000000000" pitchFamily="2" charset="2"/>
              <a:buChar char="q"/>
            </a:pPr>
            <a:r>
              <a:rPr lang="en-US" sz="2000" dirty="0"/>
              <a:t>Các </a:t>
            </a:r>
            <a:r>
              <a:rPr lang="en-US" sz="2000" dirty="0" err="1"/>
              <a:t>thao</a:t>
            </a:r>
            <a:r>
              <a:rPr lang="en-US" sz="2000" dirty="0"/>
              <a:t> </a:t>
            </a:r>
            <a:r>
              <a:rPr lang="en-US" sz="2000" dirty="0" err="1"/>
              <a:t>tác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quản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endParaRPr lang="en-US" sz="2000" dirty="0"/>
          </a:p>
          <a:p>
            <a:pPr lvl="1"/>
            <a:r>
              <a:rPr lang="vi-VN" sz="2000" b="1" dirty="0"/>
              <a:t>	</a:t>
            </a:r>
            <a:r>
              <a:rPr lang="en-US" sz="2000" b="1" dirty="0" err="1"/>
              <a:t>Thêm</a:t>
            </a:r>
            <a:r>
              <a:rPr lang="en-US" sz="2000" dirty="0"/>
              <a:t>: </a:t>
            </a:r>
            <a:r>
              <a:rPr lang="en-US" sz="2000" dirty="0" err="1"/>
              <a:t>Nhập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mới</a:t>
            </a:r>
            <a:r>
              <a:rPr lang="en-US" sz="2000" dirty="0"/>
              <a:t>.</a:t>
            </a:r>
          </a:p>
          <a:p>
            <a:pPr lvl="1"/>
            <a:r>
              <a:rPr lang="vi-VN" sz="2000" b="1" dirty="0"/>
              <a:t>	</a:t>
            </a:r>
            <a:r>
              <a:rPr lang="en-US" sz="2000" b="1" dirty="0"/>
              <a:t>Lưu</a:t>
            </a:r>
            <a:r>
              <a:rPr lang="en-US" sz="2000" dirty="0"/>
              <a:t>: Lưu </a:t>
            </a:r>
            <a:r>
              <a:rPr lang="en-US" sz="2000" dirty="0" err="1"/>
              <a:t>thông</a:t>
            </a:r>
            <a:r>
              <a:rPr lang="en-US" sz="2000" dirty="0"/>
              <a:t> tin </a:t>
            </a:r>
            <a:r>
              <a:rPr lang="en-US" sz="2000" dirty="0" err="1"/>
              <a:t>đã</a:t>
            </a:r>
            <a:r>
              <a:rPr lang="en-US" sz="2000" dirty="0"/>
              <a:t> </a:t>
            </a:r>
            <a:r>
              <a:rPr lang="en-US" sz="2000" dirty="0" err="1"/>
              <a:t>chỉnh</a:t>
            </a:r>
            <a:r>
              <a:rPr lang="en-US" sz="2000" dirty="0"/>
              <a:t> </a:t>
            </a:r>
            <a:r>
              <a:rPr lang="en-US" sz="2000" dirty="0" err="1"/>
              <a:t>sửa</a:t>
            </a:r>
            <a:r>
              <a:rPr lang="en-US" sz="2000" dirty="0"/>
              <a:t>.</a:t>
            </a:r>
          </a:p>
          <a:p>
            <a:pPr lvl="2"/>
            <a:r>
              <a:rPr lang="vi-VN" sz="2000" b="1" dirty="0"/>
              <a:t>	</a:t>
            </a:r>
            <a:r>
              <a:rPr lang="en-US" sz="2000" b="1" dirty="0"/>
              <a:t>Sửa</a:t>
            </a:r>
            <a:r>
              <a:rPr lang="en-US" sz="2000" dirty="0"/>
              <a:t>: </a:t>
            </a:r>
            <a:r>
              <a:rPr lang="en-US" sz="2000" dirty="0" err="1"/>
              <a:t>Điều</a:t>
            </a:r>
            <a:r>
              <a:rPr lang="en-US" sz="2000" dirty="0"/>
              <a:t> </a:t>
            </a:r>
            <a:r>
              <a:rPr lang="en-US" sz="2000" dirty="0" err="1"/>
              <a:t>chỉnh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.</a:t>
            </a:r>
          </a:p>
          <a:p>
            <a:pPr lvl="2"/>
            <a:r>
              <a:rPr lang="vi-VN" sz="2000" b="1" dirty="0"/>
              <a:t>	</a:t>
            </a:r>
            <a:r>
              <a:rPr lang="en-US" sz="2000" b="1" dirty="0" err="1"/>
              <a:t>Xóa</a:t>
            </a:r>
            <a:r>
              <a:rPr lang="en-US" sz="2000" dirty="0"/>
              <a:t>: </a:t>
            </a:r>
            <a:r>
              <a:rPr lang="en-US" sz="2000" dirty="0" err="1"/>
              <a:t>Xóa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khỏi</a:t>
            </a:r>
            <a:r>
              <a:rPr lang="en-US" sz="2000" dirty="0"/>
              <a:t> </a:t>
            </a:r>
            <a:r>
              <a:rPr lang="en-US" sz="2000" dirty="0" err="1"/>
              <a:t>danh</a:t>
            </a:r>
            <a:r>
              <a:rPr lang="en-US" sz="2000" dirty="0"/>
              <a:t> </a:t>
            </a:r>
            <a:r>
              <a:rPr lang="en-US" sz="2000" dirty="0" err="1"/>
              <a:t>sách</a:t>
            </a:r>
            <a:r>
              <a:rPr lang="en-US" sz="2000" dirty="0"/>
              <a:t>.</a:t>
            </a:r>
          </a:p>
          <a:p>
            <a:pPr lvl="1"/>
            <a:r>
              <a:rPr lang="vi-VN" sz="2000" b="1" dirty="0"/>
              <a:t>	</a:t>
            </a:r>
            <a:r>
              <a:rPr lang="en-US" sz="2000" b="1" dirty="0" err="1"/>
              <a:t>Tải</a:t>
            </a:r>
            <a:r>
              <a:rPr lang="en-US" sz="2000" dirty="0"/>
              <a:t> </a:t>
            </a:r>
            <a:r>
              <a:rPr lang="en-US" sz="2000" b="1" dirty="0" err="1"/>
              <a:t>lại</a:t>
            </a:r>
            <a:r>
              <a:rPr lang="en-US" sz="2000" dirty="0"/>
              <a:t>: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mới</a:t>
            </a:r>
            <a:r>
              <a:rPr lang="en-US" sz="2000" dirty="0"/>
              <a:t> </a:t>
            </a:r>
            <a:r>
              <a:rPr lang="en-US" sz="2000" dirty="0" err="1"/>
              <a:t>bảng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.</a:t>
            </a:r>
          </a:p>
          <a:p>
            <a:pPr lvl="1"/>
            <a:r>
              <a:rPr lang="vi-VN" sz="2000" b="1" dirty="0"/>
              <a:t>	</a:t>
            </a:r>
            <a:r>
              <a:rPr lang="en-US" sz="2000" b="1" dirty="0" err="1"/>
              <a:t>Đóng</a:t>
            </a:r>
            <a:r>
              <a:rPr lang="en-US" sz="2000" dirty="0"/>
              <a:t>: </a:t>
            </a:r>
            <a:r>
              <a:rPr lang="en-US" sz="2000" dirty="0" err="1"/>
              <a:t>Thoát</a:t>
            </a:r>
            <a:r>
              <a:rPr lang="en-US" sz="2000" dirty="0"/>
              <a:t>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b="1" dirty="0"/>
              <a:t>.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E7ACFA25-C455-0C56-B297-31548E5C2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3">
            <a:extLst>
              <a:ext uri="{FF2B5EF4-FFF2-40B4-BE49-F238E27FC236}">
                <a16:creationId xmlns:a16="http://schemas.microsoft.com/office/drawing/2014/main" id="{1ACD7266-B029-CA03-F06D-EDB498BF503A}"/>
              </a:ext>
            </a:extLst>
          </p:cNvPr>
          <p:cNvGrpSpPr/>
          <p:nvPr/>
        </p:nvGrpSpPr>
        <p:grpSpPr>
          <a:xfrm>
            <a:off x="-176981" y="0"/>
            <a:ext cx="18464981" cy="10397918"/>
            <a:chOff x="0" y="0"/>
            <a:chExt cx="2728025" cy="2738546"/>
          </a:xfrm>
        </p:grpSpPr>
        <p:sp>
          <p:nvSpPr>
            <p:cNvPr id="67" name="Google Shape;67;p13">
              <a:extLst>
                <a:ext uri="{FF2B5EF4-FFF2-40B4-BE49-F238E27FC236}">
                  <a16:creationId xmlns:a16="http://schemas.microsoft.com/office/drawing/2014/main" id="{155B41AA-3898-7026-9C21-0F2934510209}"/>
                </a:ext>
              </a:extLst>
            </p:cNvPr>
            <p:cNvSpPr/>
            <p:nvPr/>
          </p:nvSpPr>
          <p:spPr>
            <a:xfrm>
              <a:off x="0" y="0"/>
              <a:ext cx="2728025" cy="2738546"/>
            </a:xfrm>
            <a:custGeom>
              <a:avLst/>
              <a:gdLst/>
              <a:ahLst/>
              <a:cxnLst/>
              <a:rect l="l" t="t" r="r" b="b"/>
              <a:pathLst>
                <a:path w="2728025" h="2738546" extrusionOk="0">
                  <a:moveTo>
                    <a:pt x="0" y="0"/>
                  </a:moveTo>
                  <a:lnTo>
                    <a:pt x="2728025" y="0"/>
                  </a:lnTo>
                  <a:lnTo>
                    <a:pt x="2728025" y="2738546"/>
                  </a:lnTo>
                  <a:lnTo>
                    <a:pt x="0" y="2738546"/>
                  </a:lnTo>
                  <a:close/>
                </a:path>
              </a:pathLst>
            </a:custGeom>
            <a:solidFill>
              <a:srgbClr val="F8E175"/>
            </a:solidFill>
            <a:ln w="114300" cap="flat" cmpd="sng">
              <a:solidFill>
                <a:srgbClr val="F8E1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 noProof="1">
                <a:latin typeface="Abadi" panose="020F0502020204030204" pitchFamily="34" charset="0"/>
              </a:endParaRPr>
            </a:p>
          </p:txBody>
        </p:sp>
        <p:sp>
          <p:nvSpPr>
            <p:cNvPr id="68" name="Google Shape;68;p13">
              <a:extLst>
                <a:ext uri="{FF2B5EF4-FFF2-40B4-BE49-F238E27FC236}">
                  <a16:creationId xmlns:a16="http://schemas.microsoft.com/office/drawing/2014/main" id="{91CCF877-FF35-2388-D1C1-8393308AC804}"/>
                </a:ext>
              </a:extLst>
            </p:cNvPr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b="0" i="0" u="none" strike="noStrike" cap="none" noProof="1">
                <a:solidFill>
                  <a:schemeClr val="dk1"/>
                </a:solidFill>
                <a:latin typeface="Abadi" panose="020F0502020204030204" pitchFamily="34" charset="0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" name="Google Shape;69;p13">
            <a:extLst>
              <a:ext uri="{FF2B5EF4-FFF2-40B4-BE49-F238E27FC236}">
                <a16:creationId xmlns:a16="http://schemas.microsoft.com/office/drawing/2014/main" id="{19232B97-6E20-7501-0AD7-22B3159372B8}"/>
              </a:ext>
            </a:extLst>
          </p:cNvPr>
          <p:cNvGrpSpPr/>
          <p:nvPr/>
        </p:nvGrpSpPr>
        <p:grpSpPr>
          <a:xfrm>
            <a:off x="4254948" y="725274"/>
            <a:ext cx="9131747" cy="8885702"/>
            <a:chOff x="0" y="0"/>
            <a:chExt cx="2405069" cy="2340267"/>
          </a:xfrm>
        </p:grpSpPr>
        <p:sp>
          <p:nvSpPr>
            <p:cNvPr id="70" name="Google Shape;70;p13">
              <a:extLst>
                <a:ext uri="{FF2B5EF4-FFF2-40B4-BE49-F238E27FC236}">
                  <a16:creationId xmlns:a16="http://schemas.microsoft.com/office/drawing/2014/main" id="{185503A8-A72D-C260-1641-CC714472699B}"/>
                </a:ext>
              </a:extLst>
            </p:cNvPr>
            <p:cNvSpPr/>
            <p:nvPr/>
          </p:nvSpPr>
          <p:spPr>
            <a:xfrm>
              <a:off x="0" y="0"/>
              <a:ext cx="2405069" cy="2340267"/>
            </a:xfrm>
            <a:custGeom>
              <a:avLst/>
              <a:gdLst/>
              <a:ahLst/>
              <a:cxnLst/>
              <a:rect l="l" t="t" r="r" b="b"/>
              <a:pathLst>
                <a:path w="2405069" h="2340267" extrusionOk="0">
                  <a:moveTo>
                    <a:pt x="0" y="0"/>
                  </a:moveTo>
                  <a:lnTo>
                    <a:pt x="2405069" y="0"/>
                  </a:lnTo>
                  <a:lnTo>
                    <a:pt x="2405069" y="2340267"/>
                  </a:lnTo>
                  <a:lnTo>
                    <a:pt x="0" y="2340267"/>
                  </a:lnTo>
                  <a:close/>
                </a:path>
              </a:pathLst>
            </a:custGeom>
            <a:solidFill>
              <a:srgbClr val="F8E175"/>
            </a:solidFill>
            <a:ln w="1143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vi-VN" noProof="1">
                <a:latin typeface="Abadi" panose="020F0502020204030204" pitchFamily="34" charset="0"/>
              </a:endParaRPr>
            </a:p>
          </p:txBody>
        </p:sp>
        <p:sp>
          <p:nvSpPr>
            <p:cNvPr id="71" name="Google Shape;71;p13">
              <a:extLst>
                <a:ext uri="{FF2B5EF4-FFF2-40B4-BE49-F238E27FC236}">
                  <a16:creationId xmlns:a16="http://schemas.microsoft.com/office/drawing/2014/main" id="{F4079E7D-8EBF-7618-86B5-DBDE15545515}"/>
                </a:ext>
              </a:extLst>
            </p:cNvPr>
            <p:cNvSpPr txBox="1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vi-VN" sz="1800" b="0" i="0" u="none" strike="noStrike" cap="none" noProof="1">
                <a:solidFill>
                  <a:schemeClr val="dk1"/>
                </a:solidFill>
                <a:latin typeface="Abadi" panose="020F0502020204030204" pitchFamily="34" charset="0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2" name="Google Shape;72;p13">
            <a:extLst>
              <a:ext uri="{FF2B5EF4-FFF2-40B4-BE49-F238E27FC236}">
                <a16:creationId xmlns:a16="http://schemas.microsoft.com/office/drawing/2014/main" id="{E94CA387-3F37-B11C-DD62-83B616CB69CB}"/>
              </a:ext>
            </a:extLst>
          </p:cNvPr>
          <p:cNvCxnSpPr/>
          <p:nvPr/>
        </p:nvCxnSpPr>
        <p:spPr>
          <a:xfrm>
            <a:off x="5197557" y="3325373"/>
            <a:ext cx="7182180" cy="0"/>
          </a:xfrm>
          <a:prstGeom prst="straightConnector1">
            <a:avLst/>
          </a:prstGeom>
          <a:noFill/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" name="Google Shape;73;p13">
            <a:extLst>
              <a:ext uri="{FF2B5EF4-FFF2-40B4-BE49-F238E27FC236}">
                <a16:creationId xmlns:a16="http://schemas.microsoft.com/office/drawing/2014/main" id="{95D1C7A4-6831-BAC5-F3C6-5C5EE5EB1B2A}"/>
              </a:ext>
            </a:extLst>
          </p:cNvPr>
          <p:cNvCxnSpPr/>
          <p:nvPr/>
        </p:nvCxnSpPr>
        <p:spPr>
          <a:xfrm>
            <a:off x="3319283" y="6640359"/>
            <a:ext cx="1440782" cy="0"/>
          </a:xfrm>
          <a:prstGeom prst="straightConnector1">
            <a:avLst/>
          </a:prstGeom>
          <a:noFill/>
          <a:ln w="57150" cap="flat" cmpd="sng">
            <a:solidFill>
              <a:srgbClr val="F8E17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" name="Google Shape;74;p13">
            <a:extLst>
              <a:ext uri="{FF2B5EF4-FFF2-40B4-BE49-F238E27FC236}">
                <a16:creationId xmlns:a16="http://schemas.microsoft.com/office/drawing/2014/main" id="{BE22CFCA-E647-5403-2DE3-D73C697C5B69}"/>
              </a:ext>
            </a:extLst>
          </p:cNvPr>
          <p:cNvCxnSpPr/>
          <p:nvPr/>
        </p:nvCxnSpPr>
        <p:spPr>
          <a:xfrm>
            <a:off x="5215045" y="6938164"/>
            <a:ext cx="7182180" cy="0"/>
          </a:xfrm>
          <a:prstGeom prst="straightConnector1">
            <a:avLst/>
          </a:prstGeom>
          <a:noFill/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p13">
            <a:extLst>
              <a:ext uri="{FF2B5EF4-FFF2-40B4-BE49-F238E27FC236}">
                <a16:creationId xmlns:a16="http://schemas.microsoft.com/office/drawing/2014/main" id="{672E6AB6-112F-1403-34A1-BE0041B24822}"/>
              </a:ext>
            </a:extLst>
          </p:cNvPr>
          <p:cNvSpPr txBox="1"/>
          <p:nvPr/>
        </p:nvSpPr>
        <p:spPr>
          <a:xfrm>
            <a:off x="5264997" y="4265353"/>
            <a:ext cx="7047300" cy="128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8381" b="0" i="0" u="none" strike="noStrike" cap="none" noProof="1">
                <a:solidFill>
                  <a:srgbClr val="545454"/>
                </a:solidFill>
                <a:latin typeface="+mj-lt"/>
                <a:ea typeface="Ubuntu"/>
                <a:cs typeface="Aharoni" panose="020F0502020204030204" pitchFamily="2" charset="-79"/>
                <a:sym typeface="Ubuntu"/>
              </a:rPr>
              <a:t>THANK YOU</a:t>
            </a:r>
            <a:endParaRPr lang="vi-VN" noProof="1">
              <a:latin typeface="+mj-lt"/>
              <a:cs typeface="Aharoni" panose="020F0502020204030204" pitchFamily="2" charset="-79"/>
            </a:endParaRPr>
          </a:p>
        </p:txBody>
      </p:sp>
      <p:cxnSp>
        <p:nvCxnSpPr>
          <p:cNvPr id="78" name="Google Shape;78;p13">
            <a:extLst>
              <a:ext uri="{FF2B5EF4-FFF2-40B4-BE49-F238E27FC236}">
                <a16:creationId xmlns:a16="http://schemas.microsoft.com/office/drawing/2014/main" id="{489F1D6B-A5A2-9BA7-0EDC-08B29E726F88}"/>
              </a:ext>
            </a:extLst>
          </p:cNvPr>
          <p:cNvCxnSpPr/>
          <p:nvPr/>
        </p:nvCxnSpPr>
        <p:spPr>
          <a:xfrm>
            <a:off x="1028700" y="575323"/>
            <a:ext cx="6405247" cy="0"/>
          </a:xfrm>
          <a:prstGeom prst="straightConnector1">
            <a:avLst/>
          </a:prstGeom>
          <a:noFill/>
          <a:ln w="57150" cap="flat" cmpd="sng">
            <a:solidFill>
              <a:srgbClr val="F8E17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" name="Google Shape;79;p13">
            <a:extLst>
              <a:ext uri="{FF2B5EF4-FFF2-40B4-BE49-F238E27FC236}">
                <a16:creationId xmlns:a16="http://schemas.microsoft.com/office/drawing/2014/main" id="{5A2BDB31-5F72-0420-445C-1F323625B850}"/>
              </a:ext>
            </a:extLst>
          </p:cNvPr>
          <p:cNvCxnSpPr/>
          <p:nvPr/>
        </p:nvCxnSpPr>
        <p:spPr>
          <a:xfrm>
            <a:off x="1028700" y="9653352"/>
            <a:ext cx="6405247" cy="0"/>
          </a:xfrm>
          <a:prstGeom prst="straightConnector1">
            <a:avLst/>
          </a:prstGeom>
          <a:noFill/>
          <a:ln w="57150" cap="flat" cmpd="sng">
            <a:solidFill>
              <a:srgbClr val="F8E175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2876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Yellow and Grey Teacher Newsletter Presentation">
  <a:themeElements>
    <a:clrScheme name="Office">
      <a:dk1>
        <a:srgbClr val="545454"/>
      </a:dk1>
      <a:lt1>
        <a:srgbClr val="FFFFFF"/>
      </a:lt1>
      <a:dk2>
        <a:srgbClr val="FDCB7F"/>
      </a:dk2>
      <a:lt2>
        <a:srgbClr val="F8E175"/>
      </a:lt2>
      <a:accent1>
        <a:srgbClr val="FAECA6"/>
      </a:accent1>
      <a:accent2>
        <a:srgbClr val="D5D5D5"/>
      </a:accent2>
      <a:accent3>
        <a:srgbClr val="F2E281"/>
      </a:accent3>
      <a:accent4>
        <a:srgbClr val="FDCB7F"/>
      </a:accent4>
      <a:accent5>
        <a:srgbClr val="F3F3F3"/>
      </a:accent5>
      <a:accent6>
        <a:srgbClr val="EDECED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622</Words>
  <Application>Microsoft Office PowerPoint</Application>
  <PresentationFormat>Custom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Abadi</vt:lpstr>
      <vt:lpstr>Time news New Roman</vt:lpstr>
      <vt:lpstr>Ubuntu</vt:lpstr>
      <vt:lpstr>Wingdings</vt:lpstr>
      <vt:lpstr>Calibri</vt:lpstr>
      <vt:lpstr>Arial</vt:lpstr>
      <vt:lpstr>Open Sans</vt:lpstr>
      <vt:lpstr>Yellow and Grey Teacher Newsletter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pham thi truc nhu Pham Thi Truc Nhu</cp:lastModifiedBy>
  <cp:revision>10</cp:revision>
  <dcterms:modified xsi:type="dcterms:W3CDTF">2025-11-26T23:36:16Z</dcterms:modified>
</cp:coreProperties>
</file>